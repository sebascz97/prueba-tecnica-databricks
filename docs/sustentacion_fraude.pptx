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2C2C2A"/>
                </a:solidFill>
                <a:latin typeface="Arial"/>
              </a:defRPr>
            </a:pPr>
            <a:r>
              <a:rPr lang="es-ES" sz="1300" b="0" i="0" u="none" strike="noStrike">
                <a:solidFill>
                  <a:srgbClr val="2C2C2A"/>
                </a:solidFill>
                <a:latin typeface="Arial"/>
              </a:rPr>
              <a:t>Desempeño frente a la clase Fraude (%)</a:t>
            </a:r>
          </a:p>
        </c:rich>
      </c:tx>
      <c:overlay val="0"/>
    </c:title>
    <c:autoTitleDeleted val="0"/>
    <c:plotArea>
      <c:layout/>
      <c:barChart>
        <c:barDir val="col"/>
        <c:grouping val="clustered"/>
        <c:varyColors val="0"/>
        <c:ser>
          <c:idx val="0"/>
          <c:order val="0"/>
          <c:tx>
            <c:strRef>
              <c:f>Sheet1!$B$1</c:f>
              <c:strCache>
                <c:ptCount val="1"/>
                <c:pt idx="0">
                  <c:v>Árbol de decisión</c:v>
                </c:pt>
              </c:strCache>
            </c:strRef>
          </c:tx>
          <c:spPr>
            <a:solidFill>
              <a:srgbClr val="5F5E5A"/>
            </a:solidFill>
            <a:effectLst/>
          </c:spPr>
          <c:invertIfNegative val="0"/>
          <c:cat>
            <c:strRef>
              <c:f>Sheet1!$A$2:$A$5</c:f>
              <c:strCache>
                <c:ptCount val="4"/>
                <c:pt idx="0">
                  <c:v>Precisión</c:v>
                </c:pt>
                <c:pt idx="1">
                  <c:v>Recall</c:v>
                </c:pt>
                <c:pt idx="2">
                  <c:v>F1</c:v>
                </c:pt>
                <c:pt idx="3">
                  <c:v>AUC</c:v>
                </c:pt>
              </c:strCache>
            </c:strRef>
          </c:cat>
          <c:val>
            <c:numRef>
              <c:f>Sheet1!$B$2:$B$5</c:f>
              <c:numCache>
                <c:formatCode>General</c:formatCode>
                <c:ptCount val="4"/>
                <c:pt idx="0">
                  <c:v>86.4</c:v>
                </c:pt>
                <c:pt idx="1">
                  <c:v>76.7</c:v>
                </c:pt>
                <c:pt idx="2">
                  <c:v>81.400000000000006</c:v>
                </c:pt>
                <c:pt idx="3">
                  <c:v>79.2</c:v>
                </c:pt>
              </c:numCache>
            </c:numRef>
          </c:val>
          <c:extLst>
            <c:ext xmlns:c16="http://schemas.microsoft.com/office/drawing/2014/chart" uri="{C3380CC4-5D6E-409C-BE32-E72D297353CC}">
              <c16:uniqueId val="{00000000-0086-474C-9DDA-075EFFA2A960}"/>
            </c:ext>
          </c:extLst>
        </c:ser>
        <c:ser>
          <c:idx val="1"/>
          <c:order val="1"/>
          <c:tx>
            <c:strRef>
              <c:f>Sheet1!$C$1</c:f>
              <c:strCache>
                <c:ptCount val="1"/>
                <c:pt idx="0">
                  <c:v>Regresión logística</c:v>
                </c:pt>
              </c:strCache>
            </c:strRef>
          </c:tx>
          <c:spPr>
            <a:solidFill>
              <a:srgbClr val="26215C"/>
            </a:solidFill>
            <a:effectLst/>
          </c:spPr>
          <c:invertIfNegative val="0"/>
          <c:cat>
            <c:strRef>
              <c:f>Sheet1!$A$2:$A$5</c:f>
              <c:strCache>
                <c:ptCount val="4"/>
                <c:pt idx="0">
                  <c:v>Precisión</c:v>
                </c:pt>
                <c:pt idx="1">
                  <c:v>Recall</c:v>
                </c:pt>
                <c:pt idx="2">
                  <c:v>F1</c:v>
                </c:pt>
                <c:pt idx="3">
                  <c:v>AUC</c:v>
                </c:pt>
              </c:strCache>
            </c:strRef>
          </c:cat>
          <c:val>
            <c:numRef>
              <c:f>Sheet1!$C$2:$C$5</c:f>
              <c:numCache>
                <c:formatCode>General</c:formatCode>
                <c:ptCount val="4"/>
                <c:pt idx="0">
                  <c:v>72.400000000000006</c:v>
                </c:pt>
                <c:pt idx="1">
                  <c:v>82</c:v>
                </c:pt>
                <c:pt idx="2">
                  <c:v>76.900000000000006</c:v>
                </c:pt>
                <c:pt idx="3">
                  <c:v>80.599999999999994</c:v>
                </c:pt>
              </c:numCache>
            </c:numRef>
          </c:val>
          <c:extLst>
            <c:ext xmlns:c16="http://schemas.microsoft.com/office/drawing/2014/chart" uri="{C3380CC4-5D6E-409C-BE32-E72D297353CC}">
              <c16:uniqueId val="{00000001-0086-474C-9DDA-075EFFA2A960}"/>
            </c:ext>
          </c:extLst>
        </c:ser>
        <c:ser>
          <c:idx val="2"/>
          <c:order val="2"/>
          <c:tx>
            <c:strRef>
              <c:f>Sheet1!$D$1</c:f>
              <c:strCache>
                <c:ptCount val="1"/>
                <c:pt idx="0">
                  <c:v>CatBoost</c:v>
                </c:pt>
              </c:strCache>
            </c:strRef>
          </c:tx>
          <c:spPr>
            <a:solidFill>
              <a:srgbClr val="0F6E56"/>
            </a:solidFill>
            <a:effectLst/>
          </c:spPr>
          <c:invertIfNegative val="0"/>
          <c:cat>
            <c:strRef>
              <c:f>Sheet1!$A$2:$A$5</c:f>
              <c:strCache>
                <c:ptCount val="4"/>
                <c:pt idx="0">
                  <c:v>Precisión</c:v>
                </c:pt>
                <c:pt idx="1">
                  <c:v>Recall</c:v>
                </c:pt>
                <c:pt idx="2">
                  <c:v>F1</c:v>
                </c:pt>
                <c:pt idx="3">
                  <c:v>AUC</c:v>
                </c:pt>
              </c:strCache>
            </c:strRef>
          </c:cat>
          <c:val>
            <c:numRef>
              <c:f>Sheet1!$D$2:$D$5</c:f>
              <c:numCache>
                <c:formatCode>General</c:formatCode>
                <c:ptCount val="4"/>
                <c:pt idx="0">
                  <c:v>81.400000000000006</c:v>
                </c:pt>
                <c:pt idx="1">
                  <c:v>90</c:v>
                </c:pt>
                <c:pt idx="2">
                  <c:v>85</c:v>
                </c:pt>
                <c:pt idx="3">
                  <c:v>88.1</c:v>
                </c:pt>
              </c:numCache>
            </c:numRef>
          </c:val>
          <c:extLst>
            <c:ext xmlns:c16="http://schemas.microsoft.com/office/drawing/2014/chart" uri="{C3380CC4-5D6E-409C-BE32-E72D297353CC}">
              <c16:uniqueId val="{00000002-0086-474C-9DDA-075EFFA2A96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4E2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5E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50" b="0" i="0" u="none" strike="noStrike">
                <a:solidFill>
                  <a:srgbClr val="2C2C2A"/>
                </a:solidFill>
                <a:latin typeface="Arial"/>
              </a:defRPr>
            </a:pPr>
            <a:r>
              <a:rPr lang="es-CO" sz="1250" b="0" i="0" u="none" strike="noStrike">
                <a:solidFill>
                  <a:srgbClr val="2C2C2A"/>
                </a:solidFill>
                <a:latin typeface="Arial"/>
              </a:rPr>
              <a:t>Importancia de variables (feature importance)</a:t>
            </a:r>
          </a:p>
        </c:rich>
      </c:tx>
      <c:overlay val="0"/>
    </c:title>
    <c:autoTitleDeleted val="0"/>
    <c:plotArea>
      <c:layout/>
      <c:barChart>
        <c:barDir val="bar"/>
        <c:grouping val="clustered"/>
        <c:varyColors val="0"/>
        <c:ser>
          <c:idx val="0"/>
          <c:order val="0"/>
          <c:tx>
            <c:strRef>
              <c:f>Sheet1!$B$1</c:f>
              <c:strCache>
                <c:ptCount val="1"/>
                <c:pt idx="0">
                  <c:v>Importancia</c:v>
                </c:pt>
              </c:strCache>
            </c:strRef>
          </c:tx>
          <c:spPr>
            <a:solidFill>
              <a:srgbClr val="0F6E56"/>
            </a:solidFill>
            <a:effectLst/>
          </c:spPr>
          <c:invertIfNegative val="0"/>
          <c:dLbls>
            <c:numFmt formatCode="#,##0" sourceLinked="0"/>
            <c:spPr>
              <a:noFill/>
              <a:ln>
                <a:noFill/>
              </a:ln>
              <a:effectLst/>
            </c:spPr>
            <c:txPr>
              <a:bodyPr/>
              <a:lstStyle/>
              <a:p>
                <a:pPr>
                  <a:defRPr sz="900" b="0" i="0" u="none" strike="noStrike">
                    <a:solidFill>
                      <a:srgbClr val="5F5E5A"/>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SEXO_asegurado</c:v>
                </c:pt>
                <c:pt idx="1">
                  <c:v>Cobertura</c:v>
                </c:pt>
                <c:pt idx="2">
                  <c:v>Rango_edad</c:v>
                </c:pt>
                <c:pt idx="3">
                  <c:v>Reclamaciones previas</c:v>
                </c:pt>
                <c:pt idx="4">
                  <c:v>Tipo apertura</c:v>
                </c:pt>
                <c:pt idx="5">
                  <c:v>Días hasta el siniestro</c:v>
                </c:pt>
                <c:pt idx="6">
                  <c:v>Diagnóstico agrupado</c:v>
                </c:pt>
                <c:pt idx="7">
                  <c:v>Días hasta notificar</c:v>
                </c:pt>
                <c:pt idx="8">
                  <c:v>SUCURSAL</c:v>
                </c:pt>
              </c:strCache>
            </c:strRef>
          </c:cat>
          <c:val>
            <c:numRef>
              <c:f>Sheet1!$B$2:$B$10</c:f>
              <c:numCache>
                <c:formatCode>General</c:formatCode>
                <c:ptCount val="9"/>
                <c:pt idx="0">
                  <c:v>2.9</c:v>
                </c:pt>
                <c:pt idx="1">
                  <c:v>5.0999999999999996</c:v>
                </c:pt>
                <c:pt idx="2">
                  <c:v>9.4</c:v>
                </c:pt>
                <c:pt idx="3">
                  <c:v>9.6</c:v>
                </c:pt>
                <c:pt idx="4">
                  <c:v>10.3</c:v>
                </c:pt>
                <c:pt idx="5">
                  <c:v>11.5</c:v>
                </c:pt>
                <c:pt idx="6">
                  <c:v>15.8</c:v>
                </c:pt>
                <c:pt idx="7">
                  <c:v>16.399999999999999</c:v>
                </c:pt>
                <c:pt idx="8">
                  <c:v>19.100000000000001</c:v>
                </c:pt>
              </c:numCache>
            </c:numRef>
          </c:val>
          <c:extLst>
            <c:ext xmlns:c16="http://schemas.microsoft.com/office/drawing/2014/chart" uri="{C3380CC4-5D6E-409C-BE32-E72D297353CC}">
              <c16:uniqueId val="{00000000-0E3C-494B-8DBB-9360C59695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4E2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824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tiene 12776 reclamaciones de seguros de vida, de 3621 asegurados distintos, con seguimiento desde el año 2000 hasta 2026. El objetivo es construir un modelo que calcule la probabilidad de que cada reclamación sea fraude, priorizando que los hallazgos se puedan explicar al negocio.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construyeron cinco variables nuevas a partir de las fechas y del historial del asegurado. La más importante de todas resultó ser el tiempo entre el siniestro y su notificación: aparece como la variable más determinante en los tres modelos entrenados.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modelos se evaluaron con las mismas métricas sobre el mismo conjunto de prueba. El árbol es el más conservador, la regresión es la más agresiva detectando fraude, y CatBoost logra el mejor balance general.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divide primero por días hasta notificar, y en segundo lugar por el canal de apertura del caso. Con eso arma un perfil de altísimo riesgo, con 98% de fraude confirmado, y uno de bajo riesgo, con 66% de casos legítimos. El canal digital resultó sospechoso incluso cuando la notificación es rápida.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regresión logística permite leer coeficientes exactos: cada variable multiplica el riesgo de fraude una cantidad de veces precisa respecto a una categoría de referencia. La notificación tardía es la relación más fuerte, y los canales digital y oficina, junto con ciertos diagnósticos, elevan el riesgo de forma muy marcada.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CatBoost confirma en general las mismas variables que ya vimos en el árbol y la regresión, aunque cambia el orden: SUCURSAL sube al primer lugar porque este modelo la maneja de forma nativa, sin fragmentarla en dummies. El hallazgo más importante de esta diapositiva es que los tres algoritmos, con enfoques muy distintos, coinciden en las mismas señales de fraude.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recomienda usar la regresión logística como herramienta de comunicación con el negocio, porque sus coeficientes cuantifican exactamente el peso de cada variable, y CatBoost como motor de producción, por sus mejores métricas. El flujo de producción iría desde la captura de datos hasta el monitoreo, con alertas automáticas y reentrenamiento periódico.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entregamos un modelo con desempeño sólido, respaldado por tres enfoques distintos que coinciden en los mismos hallazgos, y un flujo de producción definido. Lo que necesitamos del negocio ahora es definir el umbral de alerta y el costo relativo de cada tipo de error, para calibrar el modelo según la realidad de la compañía.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0F6E56"/>
                </a:solidFill>
                <a:latin typeface="Arial" pitchFamily="34" charset="0"/>
                <a:ea typeface="Arial" pitchFamily="34" charset="-122"/>
                <a:cs typeface="Arial" pitchFamily="34" charset="-120"/>
              </a:rPr>
              <a:t>CONTEXTO</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500" b="1" dirty="0">
                <a:solidFill>
                  <a:srgbClr val="2C2C2A"/>
                </a:solidFill>
                <a:latin typeface="Arial" pitchFamily="34" charset="0"/>
                <a:ea typeface="Arial" pitchFamily="34" charset="-122"/>
                <a:cs typeface="Arial" pitchFamily="34" charset="-120"/>
              </a:rPr>
              <a:t>El reto: anticipar el fraude antes de que se </a:t>
            </a:r>
            <a:r>
              <a:rPr lang="en-US" sz="2500" b="1" dirty="0" err="1">
                <a:solidFill>
                  <a:srgbClr val="2C2C2A"/>
                </a:solidFill>
                <a:latin typeface="Arial" pitchFamily="34" charset="0"/>
                <a:ea typeface="Arial" pitchFamily="34" charset="-122"/>
                <a:cs typeface="Arial" pitchFamily="34" charset="-120"/>
              </a:rPr>
              <a:t>materialice</a:t>
            </a:r>
            <a:endParaRPr lang="en-US" sz="2500" dirty="0"/>
          </a:p>
        </p:txBody>
      </p:sp>
      <p:sp>
        <p:nvSpPr>
          <p:cNvPr id="4" name="Shape 2"/>
          <p:cNvSpPr/>
          <p:nvPr/>
        </p:nvSpPr>
        <p:spPr>
          <a:xfrm>
            <a:off x="548640" y="1600200"/>
            <a:ext cx="5303520" cy="4434840"/>
          </a:xfrm>
          <a:prstGeom prst="roundRect">
            <a:avLst>
              <a:gd name="adj" fmla="val 2474"/>
            </a:avLst>
          </a:prstGeom>
          <a:solidFill>
            <a:srgbClr val="F1EFE8"/>
          </a:solidFill>
          <a:ln/>
        </p:spPr>
        <p:txBody>
          <a:bodyPr/>
          <a:lstStyle/>
          <a:p>
            <a:endParaRPr lang="es-CO"/>
          </a:p>
        </p:txBody>
      </p:sp>
      <p:sp>
        <p:nvSpPr>
          <p:cNvPr id="5" name="Text 3"/>
          <p:cNvSpPr/>
          <p:nvPr/>
        </p:nvSpPr>
        <p:spPr>
          <a:xfrm>
            <a:off x="914400" y="1828800"/>
            <a:ext cx="4572000" cy="365760"/>
          </a:xfrm>
          <a:prstGeom prst="rect">
            <a:avLst/>
          </a:prstGeom>
          <a:noFill/>
          <a:ln/>
        </p:spPr>
        <p:txBody>
          <a:bodyPr wrap="square" rtlCol="0" anchor="ctr"/>
          <a:lstStyle/>
          <a:p>
            <a:pPr marL="0" indent="0">
              <a:buNone/>
            </a:pPr>
            <a:r>
              <a:rPr lang="en-US" sz="1500" b="1" dirty="0">
                <a:solidFill>
                  <a:srgbClr val="2C2C2A"/>
                </a:solidFill>
                <a:latin typeface="Arial" pitchFamily="34" charset="0"/>
                <a:ea typeface="Arial" pitchFamily="34" charset="-122"/>
                <a:cs typeface="Arial" pitchFamily="34" charset="-120"/>
              </a:rPr>
              <a:t>¿Qué tenemos?</a:t>
            </a:r>
            <a:endParaRPr lang="en-US" sz="1500" dirty="0"/>
          </a:p>
        </p:txBody>
      </p:sp>
      <p:sp>
        <p:nvSpPr>
          <p:cNvPr id="6" name="Text 4"/>
          <p:cNvSpPr/>
          <p:nvPr/>
        </p:nvSpPr>
        <p:spPr>
          <a:xfrm>
            <a:off x="914400" y="2286000"/>
            <a:ext cx="4572000" cy="2565496"/>
          </a:xfrm>
          <a:prstGeom prst="rect">
            <a:avLst/>
          </a:prstGeom>
          <a:noFill/>
          <a:ln/>
        </p:spPr>
        <p:txBody>
          <a:bodyPr wrap="square" rtlCol="0" anchor="ctr"/>
          <a:lstStyle/>
          <a:p>
            <a:pPr marL="0" indent="0">
              <a:lnSpc>
                <a:spcPts val="2000"/>
              </a:lnSpc>
              <a:spcAft>
                <a:spcPts val="400"/>
              </a:spcAft>
              <a:buNone/>
            </a:pPr>
            <a:r>
              <a:rPr lang="en-US" sz="1300" b="1" dirty="0">
                <a:solidFill>
                  <a:srgbClr val="0F6E56"/>
                </a:solidFill>
                <a:latin typeface="Arial" pitchFamily="34" charset="0"/>
                <a:ea typeface="Arial" pitchFamily="34" charset="-122"/>
                <a:cs typeface="Arial" pitchFamily="34" charset="-120"/>
              </a:rPr>
              <a:t>12.776 reclamaciones</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de seguros de vida (rentas, invalidez, </a:t>
            </a:r>
            <a:r>
              <a:rPr lang="en-US" sz="1300" dirty="0" err="1">
                <a:solidFill>
                  <a:srgbClr val="2C2C2A"/>
                </a:solidFill>
                <a:latin typeface="Arial" pitchFamily="34" charset="0"/>
                <a:ea typeface="Arial" pitchFamily="34" charset="-122"/>
                <a:cs typeface="Arial" pitchFamily="34" charset="-120"/>
              </a:rPr>
              <a:t>incapacidades</a:t>
            </a:r>
            <a:r>
              <a:rPr lang="en-US" sz="1300" dirty="0">
                <a:solidFill>
                  <a:srgbClr val="2C2C2A"/>
                </a:solidFill>
                <a:latin typeface="Arial" pitchFamily="34" charset="0"/>
                <a:ea typeface="Arial" pitchFamily="34" charset="-122"/>
                <a:cs typeface="Arial" pitchFamily="34" charset="-120"/>
              </a:rPr>
              <a:t>)</a:t>
            </a:r>
          </a:p>
          <a:p>
            <a:pPr marL="0" indent="0">
              <a:lnSpc>
                <a:spcPts val="2000"/>
              </a:lnSpc>
              <a:spcAft>
                <a:spcPts val="400"/>
              </a:spcAft>
              <a:buNone/>
            </a:pPr>
            <a:endParaRPr lang="en-US" sz="1300" dirty="0">
              <a:solidFill>
                <a:srgbClr val="2C2C2A"/>
              </a:solidFill>
              <a:latin typeface="Arial" pitchFamily="34" charset="0"/>
              <a:cs typeface="Arial" pitchFamily="34" charset="-120"/>
            </a:endParaRPr>
          </a:p>
          <a:p>
            <a:pPr marL="0" indent="0">
              <a:lnSpc>
                <a:spcPts val="2000"/>
              </a:lnSpc>
              <a:spcAft>
                <a:spcPts val="400"/>
              </a:spcAft>
              <a:buNone/>
            </a:pPr>
            <a:r>
              <a:rPr lang="en-US" sz="1300" b="1" dirty="0">
                <a:solidFill>
                  <a:srgbClr val="0F6E56"/>
                </a:solidFill>
                <a:latin typeface="Arial" pitchFamily="34" charset="0"/>
                <a:ea typeface="Arial" pitchFamily="34" charset="-122"/>
                <a:cs typeface="Arial" pitchFamily="34" charset="-120"/>
              </a:rPr>
              <a:t>3.621 asegurados distintos</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algunos con varias reclamaciones entre 2000 y 2026</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 </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Cada caso trae todo su ciclo: desde la vigencia de la póliza hasta el cierre, con la etiqueta de si fue fraude o no</a:t>
            </a:r>
            <a:endParaRPr lang="en-US" sz="1300" dirty="0"/>
          </a:p>
        </p:txBody>
      </p:sp>
      <p:sp>
        <p:nvSpPr>
          <p:cNvPr id="7" name="Shape 5"/>
          <p:cNvSpPr/>
          <p:nvPr/>
        </p:nvSpPr>
        <p:spPr>
          <a:xfrm>
            <a:off x="6263640" y="1600200"/>
            <a:ext cx="5394960" cy="4434840"/>
          </a:xfrm>
          <a:prstGeom prst="roundRect">
            <a:avLst>
              <a:gd name="adj" fmla="val 2474"/>
            </a:avLst>
          </a:prstGeom>
          <a:solidFill>
            <a:srgbClr val="E1F5EE"/>
          </a:solidFill>
          <a:ln/>
        </p:spPr>
        <p:txBody>
          <a:bodyPr/>
          <a:lstStyle/>
          <a:p>
            <a:endParaRPr lang="es-CO"/>
          </a:p>
        </p:txBody>
      </p:sp>
      <p:sp>
        <p:nvSpPr>
          <p:cNvPr id="8" name="Text 6"/>
          <p:cNvSpPr/>
          <p:nvPr/>
        </p:nvSpPr>
        <p:spPr>
          <a:xfrm>
            <a:off x="6629400" y="1828800"/>
            <a:ext cx="4572000" cy="365760"/>
          </a:xfrm>
          <a:prstGeom prst="rect">
            <a:avLst/>
          </a:prstGeom>
          <a:noFill/>
          <a:ln/>
        </p:spPr>
        <p:txBody>
          <a:bodyPr wrap="square" rtlCol="0" anchor="ctr"/>
          <a:lstStyle/>
          <a:p>
            <a:pPr marL="0" indent="0">
              <a:buNone/>
            </a:pPr>
            <a:r>
              <a:rPr lang="en-US" sz="1500" b="1" dirty="0">
                <a:solidFill>
                  <a:srgbClr val="2C2C2A"/>
                </a:solidFill>
                <a:latin typeface="Arial" pitchFamily="34" charset="0"/>
                <a:ea typeface="Arial" pitchFamily="34" charset="-122"/>
                <a:cs typeface="Arial" pitchFamily="34" charset="-120"/>
              </a:rPr>
              <a:t>¿Qué necesitamos?</a:t>
            </a:r>
            <a:endParaRPr lang="en-US" sz="1500" dirty="0"/>
          </a:p>
        </p:txBody>
      </p:sp>
      <p:sp>
        <p:nvSpPr>
          <p:cNvPr id="9" name="Text 7"/>
          <p:cNvSpPr/>
          <p:nvPr/>
        </p:nvSpPr>
        <p:spPr>
          <a:xfrm>
            <a:off x="6614160" y="1823624"/>
            <a:ext cx="4663440" cy="3566160"/>
          </a:xfrm>
          <a:prstGeom prst="rect">
            <a:avLst/>
          </a:prstGeom>
          <a:noFill/>
          <a:ln/>
        </p:spPr>
        <p:txBody>
          <a:bodyPr wrap="square" rtlCol="0" anchor="ctr"/>
          <a:lstStyle/>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Un modelo que estime la </a:t>
            </a:r>
            <a:r>
              <a:rPr lang="en-US" sz="1300" b="1" dirty="0">
                <a:solidFill>
                  <a:srgbClr val="0F6E56"/>
                </a:solidFill>
                <a:latin typeface="Arial" pitchFamily="34" charset="0"/>
                <a:ea typeface="Arial" pitchFamily="34" charset="-122"/>
                <a:cs typeface="Arial" pitchFamily="34" charset="-120"/>
              </a:rPr>
              <a:t>probabilidad de fraude</a:t>
            </a:r>
            <a:r>
              <a:rPr lang="en-US" sz="1300" dirty="0">
                <a:solidFill>
                  <a:srgbClr val="2C2C2A"/>
                </a:solidFill>
                <a:latin typeface="Arial" pitchFamily="34" charset="0"/>
                <a:ea typeface="Arial" pitchFamily="34" charset="-122"/>
                <a:cs typeface="Arial" pitchFamily="34" charset="-120"/>
              </a:rPr>
              <a:t> de cada reclamación</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 </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Detectar temprano evita investigar tarde, protege el portafolio y libera tiempo del equipo de auditoría</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 </a:t>
            </a:r>
            <a:endParaRPr lang="en-US" sz="1300" dirty="0"/>
          </a:p>
          <a:p>
            <a:pPr marL="0" indent="0">
              <a:lnSpc>
                <a:spcPts val="2000"/>
              </a:lnSpc>
              <a:spcAft>
                <a:spcPts val="400"/>
              </a:spcAft>
              <a:buNone/>
            </a:pPr>
            <a:r>
              <a:rPr lang="en-US" sz="1300" dirty="0">
                <a:solidFill>
                  <a:srgbClr val="2C2C2A"/>
                </a:solidFill>
                <a:latin typeface="Arial" pitchFamily="34" charset="0"/>
                <a:ea typeface="Arial" pitchFamily="34" charset="-122"/>
                <a:cs typeface="Arial" pitchFamily="34" charset="-120"/>
              </a:rPr>
              <a:t>Se entrenaron y compararon tres modelos, priorizando que los hallazgos se puedan explicar al negocio</a:t>
            </a:r>
            <a:endParaRPr lang="en-US" sz="1300" dirty="0"/>
          </a:p>
        </p:txBody>
      </p:sp>
      <p:sp>
        <p:nvSpPr>
          <p:cNvPr id="10" name="Text 8"/>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1 / 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0F6E56"/>
                </a:solidFill>
                <a:latin typeface="Arial" pitchFamily="34" charset="0"/>
                <a:ea typeface="Arial" pitchFamily="34" charset="-122"/>
                <a:cs typeface="Arial" pitchFamily="34" charset="-120"/>
              </a:rPr>
              <a:t>INGENIERÍA DE VARIABLES</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500" b="1" dirty="0">
                <a:solidFill>
                  <a:srgbClr val="2C2C2A"/>
                </a:solidFill>
                <a:latin typeface="Arial" pitchFamily="34" charset="0"/>
                <a:ea typeface="Arial" pitchFamily="34" charset="-122"/>
                <a:cs typeface="Arial" pitchFamily="34" charset="-120"/>
              </a:rPr>
              <a:t>Cinco variables nuevas construidas desde cero</a:t>
            </a:r>
            <a:endParaRPr lang="en-US" sz="2500" dirty="0"/>
          </a:p>
        </p:txBody>
      </p:sp>
      <p:sp>
        <p:nvSpPr>
          <p:cNvPr id="4" name="Shape 2"/>
          <p:cNvSpPr/>
          <p:nvPr/>
        </p:nvSpPr>
        <p:spPr>
          <a:xfrm>
            <a:off x="548640" y="1691640"/>
            <a:ext cx="2121408" cy="2788920"/>
          </a:xfrm>
          <a:prstGeom prst="roundRect">
            <a:avLst>
              <a:gd name="adj" fmla="val 4310"/>
            </a:avLst>
          </a:prstGeom>
          <a:solidFill>
            <a:srgbClr val="0F6E56"/>
          </a:solidFill>
          <a:ln/>
        </p:spPr>
        <p:txBody>
          <a:bodyPr/>
          <a:lstStyle/>
          <a:p>
            <a:endParaRPr lang="es-CO"/>
          </a:p>
        </p:txBody>
      </p:sp>
      <p:sp>
        <p:nvSpPr>
          <p:cNvPr id="5" name="Text 3"/>
          <p:cNvSpPr/>
          <p:nvPr/>
        </p:nvSpPr>
        <p:spPr>
          <a:xfrm>
            <a:off x="685800" y="1874520"/>
            <a:ext cx="1847088" cy="685800"/>
          </a:xfrm>
          <a:prstGeom prst="rect">
            <a:avLst/>
          </a:prstGeom>
          <a:noFill/>
          <a:ln/>
        </p:spPr>
        <p:txBody>
          <a:bodyPr wrap="square" rtlCol="0" anchor="ctr"/>
          <a:lstStyle/>
          <a:p>
            <a:pPr marL="0" indent="0">
              <a:lnSpc>
                <a:spcPts val="1600"/>
              </a:lnSpc>
              <a:buNone/>
            </a:pPr>
            <a:r>
              <a:rPr lang="en-US" sz="1350" b="1" dirty="0">
                <a:solidFill>
                  <a:srgbClr val="FFFFFF"/>
                </a:solidFill>
                <a:latin typeface="Arial" pitchFamily="34" charset="0"/>
                <a:ea typeface="Arial" pitchFamily="34" charset="-122"/>
                <a:cs typeface="Arial" pitchFamily="34" charset="-120"/>
              </a:rPr>
              <a:t>Días hasta notificar</a:t>
            </a:r>
            <a:endParaRPr lang="en-US" sz="1350" dirty="0"/>
          </a:p>
        </p:txBody>
      </p:sp>
      <p:sp>
        <p:nvSpPr>
          <p:cNvPr id="6" name="Text 4"/>
          <p:cNvSpPr/>
          <p:nvPr/>
        </p:nvSpPr>
        <p:spPr>
          <a:xfrm>
            <a:off x="685800" y="2560320"/>
            <a:ext cx="1847088" cy="1737360"/>
          </a:xfrm>
          <a:prstGeom prst="rect">
            <a:avLst/>
          </a:prstGeom>
          <a:noFill/>
          <a:ln/>
        </p:spPr>
        <p:txBody>
          <a:bodyPr wrap="square" rtlCol="0" anchor="ctr"/>
          <a:lstStyle/>
          <a:p>
            <a:pPr marL="0" indent="0">
              <a:lnSpc>
                <a:spcPts val="1400"/>
              </a:lnSpc>
              <a:buNone/>
            </a:pPr>
            <a:r>
              <a:rPr lang="en-US" sz="1050" dirty="0">
                <a:solidFill>
                  <a:srgbClr val="E1F5EE"/>
                </a:solidFill>
                <a:latin typeface="Arial" pitchFamily="34" charset="0"/>
                <a:ea typeface="Arial" pitchFamily="34" charset="-122"/>
                <a:cs typeface="Arial" pitchFamily="34" charset="-120"/>
              </a:rPr>
              <a:t>Tiempo entre el siniestro y su aviso a la aseguradora</a:t>
            </a:r>
            <a:endParaRPr lang="en-US" sz="1050" dirty="0"/>
          </a:p>
        </p:txBody>
      </p:sp>
      <p:sp>
        <p:nvSpPr>
          <p:cNvPr id="7" name="Text 5"/>
          <p:cNvSpPr/>
          <p:nvPr/>
        </p:nvSpPr>
        <p:spPr>
          <a:xfrm>
            <a:off x="685800" y="4069080"/>
            <a:ext cx="1847088" cy="320040"/>
          </a:xfrm>
          <a:prstGeom prst="rect">
            <a:avLst/>
          </a:prstGeom>
          <a:noFill/>
          <a:ln/>
        </p:spPr>
        <p:txBody>
          <a:bodyPr wrap="square" rtlCol="0" anchor="ctr"/>
          <a:lstStyle/>
          <a:p>
            <a:pPr marL="0" indent="0">
              <a:buNone/>
            </a:pPr>
            <a:r>
              <a:rPr lang="en-US" sz="1000" b="1" dirty="0">
                <a:solidFill>
                  <a:srgbClr val="FCDE5A"/>
                </a:solidFill>
                <a:latin typeface="Arial" pitchFamily="34" charset="0"/>
                <a:ea typeface="Arial" pitchFamily="34" charset="-122"/>
                <a:cs typeface="Arial" pitchFamily="34" charset="-120"/>
              </a:rPr>
              <a:t>★ la más fuerte</a:t>
            </a:r>
            <a:endParaRPr lang="en-US" sz="1000" dirty="0"/>
          </a:p>
        </p:txBody>
      </p:sp>
      <p:sp>
        <p:nvSpPr>
          <p:cNvPr id="8" name="Shape 6"/>
          <p:cNvSpPr/>
          <p:nvPr/>
        </p:nvSpPr>
        <p:spPr>
          <a:xfrm>
            <a:off x="2811780" y="1691640"/>
            <a:ext cx="2121408" cy="2788920"/>
          </a:xfrm>
          <a:prstGeom prst="roundRect">
            <a:avLst>
              <a:gd name="adj" fmla="val 4310"/>
            </a:avLst>
          </a:prstGeom>
          <a:solidFill>
            <a:srgbClr val="F1EFE8"/>
          </a:solidFill>
          <a:ln/>
        </p:spPr>
        <p:txBody>
          <a:bodyPr/>
          <a:lstStyle/>
          <a:p>
            <a:endParaRPr lang="es-CO"/>
          </a:p>
        </p:txBody>
      </p:sp>
      <p:sp>
        <p:nvSpPr>
          <p:cNvPr id="9" name="Text 7"/>
          <p:cNvSpPr/>
          <p:nvPr/>
        </p:nvSpPr>
        <p:spPr>
          <a:xfrm>
            <a:off x="2948940" y="1874520"/>
            <a:ext cx="1847088" cy="685800"/>
          </a:xfrm>
          <a:prstGeom prst="rect">
            <a:avLst/>
          </a:prstGeom>
          <a:noFill/>
          <a:ln/>
        </p:spPr>
        <p:txBody>
          <a:bodyPr wrap="square" rtlCol="0" anchor="ctr"/>
          <a:lstStyle/>
          <a:p>
            <a:pPr marL="0" indent="0">
              <a:lnSpc>
                <a:spcPts val="1600"/>
              </a:lnSpc>
              <a:buNone/>
            </a:pPr>
            <a:r>
              <a:rPr lang="en-US" sz="1350" b="1" dirty="0">
                <a:solidFill>
                  <a:srgbClr val="2C2C2A"/>
                </a:solidFill>
                <a:latin typeface="Arial" pitchFamily="34" charset="0"/>
                <a:ea typeface="Arial" pitchFamily="34" charset="-122"/>
                <a:cs typeface="Arial" pitchFamily="34" charset="-120"/>
              </a:rPr>
              <a:t>Reclamaciones previas</a:t>
            </a:r>
            <a:endParaRPr lang="en-US" sz="1350" dirty="0"/>
          </a:p>
        </p:txBody>
      </p:sp>
      <p:sp>
        <p:nvSpPr>
          <p:cNvPr id="10" name="Text 8"/>
          <p:cNvSpPr/>
          <p:nvPr/>
        </p:nvSpPr>
        <p:spPr>
          <a:xfrm>
            <a:off x="2948940" y="2560320"/>
            <a:ext cx="1847088" cy="1737360"/>
          </a:xfrm>
          <a:prstGeom prst="rect">
            <a:avLst/>
          </a:prstGeom>
          <a:noFill/>
          <a:ln/>
        </p:spPr>
        <p:txBody>
          <a:bodyPr wrap="square" rtlCol="0" anchor="ctr"/>
          <a:lstStyle/>
          <a:p>
            <a:pPr marL="0" indent="0">
              <a:lnSpc>
                <a:spcPts val="1400"/>
              </a:lnSpc>
              <a:buNone/>
            </a:pPr>
            <a:r>
              <a:rPr lang="en-US" sz="1050" dirty="0">
                <a:solidFill>
                  <a:srgbClr val="5F5E5A"/>
                </a:solidFill>
                <a:latin typeface="Arial" pitchFamily="34" charset="0"/>
                <a:ea typeface="Arial" pitchFamily="34" charset="-122"/>
                <a:cs typeface="Arial" pitchFamily="34" charset="-120"/>
              </a:rPr>
              <a:t>Cuántas reclamaciones tenía antes el mismo asegurado</a:t>
            </a:r>
            <a:endParaRPr lang="en-US" sz="1050" dirty="0"/>
          </a:p>
        </p:txBody>
      </p:sp>
      <p:sp>
        <p:nvSpPr>
          <p:cNvPr id="11" name="Shape 9"/>
          <p:cNvSpPr/>
          <p:nvPr/>
        </p:nvSpPr>
        <p:spPr>
          <a:xfrm>
            <a:off x="5074920" y="1691640"/>
            <a:ext cx="2121408" cy="2788920"/>
          </a:xfrm>
          <a:prstGeom prst="roundRect">
            <a:avLst>
              <a:gd name="adj" fmla="val 4310"/>
            </a:avLst>
          </a:prstGeom>
          <a:solidFill>
            <a:srgbClr val="F1EFE8"/>
          </a:solidFill>
          <a:ln/>
        </p:spPr>
        <p:txBody>
          <a:bodyPr/>
          <a:lstStyle/>
          <a:p>
            <a:endParaRPr lang="es-CO"/>
          </a:p>
        </p:txBody>
      </p:sp>
      <p:sp>
        <p:nvSpPr>
          <p:cNvPr id="12" name="Text 10"/>
          <p:cNvSpPr/>
          <p:nvPr/>
        </p:nvSpPr>
        <p:spPr>
          <a:xfrm>
            <a:off x="5212080" y="1874520"/>
            <a:ext cx="1847088" cy="685800"/>
          </a:xfrm>
          <a:prstGeom prst="rect">
            <a:avLst/>
          </a:prstGeom>
          <a:noFill/>
          <a:ln/>
        </p:spPr>
        <p:txBody>
          <a:bodyPr wrap="square" rtlCol="0" anchor="ctr"/>
          <a:lstStyle/>
          <a:p>
            <a:pPr marL="0" indent="0">
              <a:lnSpc>
                <a:spcPts val="1600"/>
              </a:lnSpc>
              <a:buNone/>
            </a:pPr>
            <a:r>
              <a:rPr lang="en-US" sz="1350" b="1" dirty="0">
                <a:solidFill>
                  <a:srgbClr val="2C2C2A"/>
                </a:solidFill>
                <a:latin typeface="Arial" pitchFamily="34" charset="0"/>
                <a:ea typeface="Arial" pitchFamily="34" charset="-122"/>
                <a:cs typeface="Arial" pitchFamily="34" charset="-120"/>
              </a:rPr>
              <a:t>Días hasta el siniestro</a:t>
            </a:r>
            <a:endParaRPr lang="en-US" sz="1350" dirty="0"/>
          </a:p>
        </p:txBody>
      </p:sp>
      <p:sp>
        <p:nvSpPr>
          <p:cNvPr id="13" name="Text 11"/>
          <p:cNvSpPr/>
          <p:nvPr/>
        </p:nvSpPr>
        <p:spPr>
          <a:xfrm>
            <a:off x="5212080" y="2560320"/>
            <a:ext cx="1847088" cy="1737360"/>
          </a:xfrm>
          <a:prstGeom prst="rect">
            <a:avLst/>
          </a:prstGeom>
          <a:noFill/>
          <a:ln/>
        </p:spPr>
        <p:txBody>
          <a:bodyPr wrap="square" rtlCol="0" anchor="ctr"/>
          <a:lstStyle/>
          <a:p>
            <a:pPr marL="0" indent="0">
              <a:lnSpc>
                <a:spcPts val="1400"/>
              </a:lnSpc>
              <a:buNone/>
            </a:pPr>
            <a:r>
              <a:rPr lang="en-US" sz="1050" dirty="0">
                <a:solidFill>
                  <a:srgbClr val="5F5E5A"/>
                </a:solidFill>
                <a:latin typeface="Arial" pitchFamily="34" charset="0"/>
                <a:ea typeface="Arial" pitchFamily="34" charset="-122"/>
                <a:cs typeface="Arial" pitchFamily="34" charset="-120"/>
              </a:rPr>
              <a:t>Tiempo entre el inicio de la póliza y el siniestro</a:t>
            </a:r>
            <a:endParaRPr lang="en-US" sz="1050" dirty="0"/>
          </a:p>
        </p:txBody>
      </p:sp>
      <p:sp>
        <p:nvSpPr>
          <p:cNvPr id="14" name="Shape 12"/>
          <p:cNvSpPr/>
          <p:nvPr/>
        </p:nvSpPr>
        <p:spPr>
          <a:xfrm>
            <a:off x="7338060" y="1691640"/>
            <a:ext cx="2121408" cy="2788920"/>
          </a:xfrm>
          <a:prstGeom prst="roundRect">
            <a:avLst>
              <a:gd name="adj" fmla="val 4310"/>
            </a:avLst>
          </a:prstGeom>
          <a:solidFill>
            <a:srgbClr val="F1EFE8"/>
          </a:solidFill>
          <a:ln/>
        </p:spPr>
        <p:txBody>
          <a:bodyPr/>
          <a:lstStyle/>
          <a:p>
            <a:endParaRPr lang="es-CO"/>
          </a:p>
        </p:txBody>
      </p:sp>
      <p:sp>
        <p:nvSpPr>
          <p:cNvPr id="15" name="Text 13"/>
          <p:cNvSpPr/>
          <p:nvPr/>
        </p:nvSpPr>
        <p:spPr>
          <a:xfrm>
            <a:off x="7475220" y="1874520"/>
            <a:ext cx="1847088" cy="685800"/>
          </a:xfrm>
          <a:prstGeom prst="rect">
            <a:avLst/>
          </a:prstGeom>
          <a:noFill/>
          <a:ln/>
        </p:spPr>
        <p:txBody>
          <a:bodyPr wrap="square" rtlCol="0" anchor="ctr"/>
          <a:lstStyle/>
          <a:p>
            <a:pPr marL="0" indent="0">
              <a:lnSpc>
                <a:spcPts val="1600"/>
              </a:lnSpc>
              <a:buNone/>
            </a:pPr>
            <a:r>
              <a:rPr lang="en-US" sz="1350" b="1" dirty="0">
                <a:solidFill>
                  <a:srgbClr val="2C2C2A"/>
                </a:solidFill>
                <a:latin typeface="Arial" pitchFamily="34" charset="0"/>
                <a:ea typeface="Arial" pitchFamily="34" charset="-122"/>
                <a:cs typeface="Arial" pitchFamily="34" charset="-120"/>
              </a:rPr>
              <a:t>Diagnóstico agrupado</a:t>
            </a:r>
            <a:endParaRPr lang="en-US" sz="1350" dirty="0"/>
          </a:p>
        </p:txBody>
      </p:sp>
      <p:sp>
        <p:nvSpPr>
          <p:cNvPr id="16" name="Text 14"/>
          <p:cNvSpPr/>
          <p:nvPr/>
        </p:nvSpPr>
        <p:spPr>
          <a:xfrm>
            <a:off x="7475220" y="2560320"/>
            <a:ext cx="1847088" cy="1737360"/>
          </a:xfrm>
          <a:prstGeom prst="rect">
            <a:avLst/>
          </a:prstGeom>
          <a:noFill/>
          <a:ln/>
        </p:spPr>
        <p:txBody>
          <a:bodyPr wrap="square" rtlCol="0" anchor="ctr"/>
          <a:lstStyle/>
          <a:p>
            <a:pPr marL="0" indent="0">
              <a:lnSpc>
                <a:spcPts val="1400"/>
              </a:lnSpc>
              <a:buNone/>
            </a:pPr>
            <a:r>
              <a:rPr lang="en-US" sz="1050" dirty="0">
                <a:solidFill>
                  <a:srgbClr val="5F5E5A"/>
                </a:solidFill>
                <a:latin typeface="Arial" pitchFamily="34" charset="0"/>
                <a:ea typeface="Arial" pitchFamily="34" charset="-122"/>
                <a:cs typeface="Arial" pitchFamily="34" charset="-120"/>
              </a:rPr>
              <a:t>Los 30 diagnósticos más frecuentes, el resto en "Otros"</a:t>
            </a:r>
            <a:endParaRPr lang="en-US" sz="1050" dirty="0"/>
          </a:p>
        </p:txBody>
      </p:sp>
      <p:sp>
        <p:nvSpPr>
          <p:cNvPr id="17" name="Shape 15"/>
          <p:cNvSpPr/>
          <p:nvPr/>
        </p:nvSpPr>
        <p:spPr>
          <a:xfrm>
            <a:off x="9601200" y="1691640"/>
            <a:ext cx="2121408" cy="2788920"/>
          </a:xfrm>
          <a:prstGeom prst="roundRect">
            <a:avLst>
              <a:gd name="adj" fmla="val 4310"/>
            </a:avLst>
          </a:prstGeom>
          <a:solidFill>
            <a:srgbClr val="F1EFE8"/>
          </a:solidFill>
          <a:ln/>
        </p:spPr>
        <p:txBody>
          <a:bodyPr/>
          <a:lstStyle/>
          <a:p>
            <a:endParaRPr lang="es-CO"/>
          </a:p>
        </p:txBody>
      </p:sp>
      <p:sp>
        <p:nvSpPr>
          <p:cNvPr id="18" name="Text 16"/>
          <p:cNvSpPr/>
          <p:nvPr/>
        </p:nvSpPr>
        <p:spPr>
          <a:xfrm>
            <a:off x="9738360" y="1874520"/>
            <a:ext cx="1847088" cy="685800"/>
          </a:xfrm>
          <a:prstGeom prst="rect">
            <a:avLst/>
          </a:prstGeom>
          <a:noFill/>
          <a:ln/>
        </p:spPr>
        <p:txBody>
          <a:bodyPr wrap="square" rtlCol="0" anchor="ctr"/>
          <a:lstStyle/>
          <a:p>
            <a:pPr marL="0" indent="0">
              <a:lnSpc>
                <a:spcPts val="1600"/>
              </a:lnSpc>
              <a:buNone/>
            </a:pPr>
            <a:r>
              <a:rPr lang="en-US" sz="1350" b="1" dirty="0">
                <a:solidFill>
                  <a:srgbClr val="2C2C2A"/>
                </a:solidFill>
                <a:latin typeface="Arial" pitchFamily="34" charset="0"/>
                <a:ea typeface="Arial" pitchFamily="34" charset="-122"/>
                <a:cs typeface="Arial" pitchFamily="34" charset="-120"/>
              </a:rPr>
              <a:t>Rango de edad</a:t>
            </a:r>
            <a:endParaRPr lang="en-US" sz="1350" dirty="0"/>
          </a:p>
        </p:txBody>
      </p:sp>
      <p:sp>
        <p:nvSpPr>
          <p:cNvPr id="19" name="Text 17"/>
          <p:cNvSpPr/>
          <p:nvPr/>
        </p:nvSpPr>
        <p:spPr>
          <a:xfrm>
            <a:off x="9738360" y="2560320"/>
            <a:ext cx="1847088" cy="1737360"/>
          </a:xfrm>
          <a:prstGeom prst="rect">
            <a:avLst/>
          </a:prstGeom>
          <a:noFill/>
          <a:ln/>
        </p:spPr>
        <p:txBody>
          <a:bodyPr wrap="square" rtlCol="0" anchor="ctr"/>
          <a:lstStyle/>
          <a:p>
            <a:pPr marL="0" indent="0">
              <a:lnSpc>
                <a:spcPts val="1400"/>
              </a:lnSpc>
              <a:buNone/>
            </a:pPr>
            <a:r>
              <a:rPr lang="en-US" sz="1050" dirty="0">
                <a:solidFill>
                  <a:srgbClr val="5F5E5A"/>
                </a:solidFill>
                <a:latin typeface="Arial" pitchFamily="34" charset="0"/>
                <a:ea typeface="Arial" pitchFamily="34" charset="-122"/>
                <a:cs typeface="Arial" pitchFamily="34" charset="-120"/>
              </a:rPr>
              <a:t>Edad del asegurado agrupada en 5 rangos</a:t>
            </a:r>
            <a:endParaRPr lang="en-US" sz="1050" dirty="0"/>
          </a:p>
        </p:txBody>
      </p:sp>
      <p:sp>
        <p:nvSpPr>
          <p:cNvPr id="20" name="Shape 18"/>
          <p:cNvSpPr/>
          <p:nvPr/>
        </p:nvSpPr>
        <p:spPr>
          <a:xfrm>
            <a:off x="548640" y="4709160"/>
            <a:ext cx="11064240" cy="1371600"/>
          </a:xfrm>
          <a:prstGeom prst="roundRect">
            <a:avLst>
              <a:gd name="adj" fmla="val 6667"/>
            </a:avLst>
          </a:prstGeom>
          <a:solidFill>
            <a:srgbClr val="EEEDFE"/>
          </a:solidFill>
          <a:ln/>
        </p:spPr>
        <p:txBody>
          <a:bodyPr/>
          <a:lstStyle/>
          <a:p>
            <a:endParaRPr lang="es-CO"/>
          </a:p>
        </p:txBody>
      </p:sp>
      <p:sp>
        <p:nvSpPr>
          <p:cNvPr id="21" name="Text 19"/>
          <p:cNvSpPr/>
          <p:nvPr/>
        </p:nvSpPr>
        <p:spPr>
          <a:xfrm>
            <a:off x="868680" y="4864608"/>
            <a:ext cx="10424160" cy="1097280"/>
          </a:xfrm>
          <a:prstGeom prst="rect">
            <a:avLst/>
          </a:prstGeom>
          <a:noFill/>
          <a:ln/>
        </p:spPr>
        <p:txBody>
          <a:bodyPr wrap="square" rtlCol="0" anchor="ctr"/>
          <a:lstStyle/>
          <a:p>
            <a:pPr marL="0" indent="0">
              <a:lnSpc>
                <a:spcPts val="1700"/>
              </a:lnSpc>
              <a:buNone/>
            </a:pPr>
            <a:r>
              <a:rPr lang="en-US" sz="1250" b="1" dirty="0">
                <a:solidFill>
                  <a:srgbClr val="26215C"/>
                </a:solidFill>
                <a:latin typeface="Arial" pitchFamily="34" charset="0"/>
                <a:ea typeface="Arial" pitchFamily="34" charset="-122"/>
                <a:cs typeface="Arial" pitchFamily="34" charset="-120"/>
              </a:rPr>
              <a:t>Días hasta notificar</a:t>
            </a:r>
            <a:r>
              <a:rPr lang="en-US" sz="1250" dirty="0">
                <a:solidFill>
                  <a:srgbClr val="2C2C2A"/>
                </a:solidFill>
                <a:latin typeface="Arial" pitchFamily="34" charset="0"/>
                <a:ea typeface="Arial" pitchFamily="34" charset="-122"/>
                <a:cs typeface="Arial" pitchFamily="34" charset="-120"/>
              </a:rPr>
              <a:t>  fue la variable con mayor peso en los tres modelos: la primera decisión del árbol, el mayor multiplicador de riesgo de la regresión (11,7 veces) y la segunda más importante en CatBoost. Notificar tarde es la señal de fraude más fuerte que encontramos.</a:t>
            </a:r>
            <a:endParaRPr lang="en-US" sz="1250" dirty="0"/>
          </a:p>
        </p:txBody>
      </p:sp>
      <p:sp>
        <p:nvSpPr>
          <p:cNvPr id="22" name="Text 20"/>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0F6E56"/>
                </a:solidFill>
                <a:latin typeface="Arial" pitchFamily="34" charset="0"/>
                <a:ea typeface="Arial" pitchFamily="34" charset="-122"/>
                <a:cs typeface="Arial" pitchFamily="34" charset="-120"/>
              </a:rPr>
              <a:t>MODELADO</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500" b="1" dirty="0">
                <a:solidFill>
                  <a:srgbClr val="2C2C2A"/>
                </a:solidFill>
                <a:latin typeface="Arial" pitchFamily="34" charset="0"/>
                <a:ea typeface="Arial" pitchFamily="34" charset="-122"/>
                <a:cs typeface="Arial" pitchFamily="34" charset="-120"/>
              </a:rPr>
              <a:t>Tres modelos, tres formas de ver el mismo problema</a:t>
            </a:r>
            <a:endParaRPr lang="en-US" sz="2500" dirty="0"/>
          </a:p>
        </p:txBody>
      </p:sp>
      <p:graphicFrame>
        <p:nvGraphicFramePr>
          <p:cNvPr id="4" name="Chart 0"/>
          <p:cNvGraphicFramePr/>
          <p:nvPr/>
        </p:nvGraphicFramePr>
        <p:xfrm>
          <a:off x="457200" y="1645920"/>
          <a:ext cx="74066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92440" y="1645920"/>
            <a:ext cx="3566160" cy="4526280"/>
          </a:xfrm>
          <a:prstGeom prst="roundRect">
            <a:avLst>
              <a:gd name="adj" fmla="val 2564"/>
            </a:avLst>
          </a:prstGeom>
          <a:solidFill>
            <a:srgbClr val="F1EFE8"/>
          </a:solidFill>
          <a:ln/>
        </p:spPr>
        <p:txBody>
          <a:bodyPr/>
          <a:lstStyle/>
          <a:p>
            <a:endParaRPr lang="es-CO"/>
          </a:p>
        </p:txBody>
      </p:sp>
      <p:sp>
        <p:nvSpPr>
          <p:cNvPr id="6" name="Text 3"/>
          <p:cNvSpPr/>
          <p:nvPr/>
        </p:nvSpPr>
        <p:spPr>
          <a:xfrm>
            <a:off x="8366760" y="1828800"/>
            <a:ext cx="3017520" cy="320040"/>
          </a:xfrm>
          <a:prstGeom prst="rect">
            <a:avLst/>
          </a:prstGeom>
          <a:noFill/>
          <a:ln/>
        </p:spPr>
        <p:txBody>
          <a:bodyPr wrap="square" rtlCol="0" anchor="ctr"/>
          <a:lstStyle/>
          <a:p>
            <a:pPr marL="0" indent="0">
              <a:buNone/>
            </a:pPr>
            <a:r>
              <a:rPr lang="en-US" sz="1350" b="1" dirty="0">
                <a:solidFill>
                  <a:srgbClr val="2C2C2A"/>
                </a:solidFill>
                <a:latin typeface="Arial" pitchFamily="34" charset="0"/>
                <a:ea typeface="Arial" pitchFamily="34" charset="-122"/>
                <a:cs typeface="Arial" pitchFamily="34" charset="-120"/>
              </a:rPr>
              <a:t>Cómo leerlo</a:t>
            </a:r>
            <a:endParaRPr lang="en-US" sz="1350" dirty="0"/>
          </a:p>
        </p:txBody>
      </p:sp>
      <p:sp>
        <p:nvSpPr>
          <p:cNvPr id="7" name="Text 4"/>
          <p:cNvSpPr/>
          <p:nvPr/>
        </p:nvSpPr>
        <p:spPr>
          <a:xfrm>
            <a:off x="8366760" y="2240280"/>
            <a:ext cx="3063240" cy="3749040"/>
          </a:xfrm>
          <a:prstGeom prst="rect">
            <a:avLst/>
          </a:prstGeom>
          <a:noFill/>
          <a:ln/>
        </p:spPr>
        <p:txBody>
          <a:bodyPr wrap="square" rtlCol="0" anchor="t"/>
          <a:lstStyle/>
          <a:p>
            <a:pPr marL="0" indent="0">
              <a:lnSpc>
                <a:spcPts val="1600"/>
              </a:lnSpc>
              <a:spcAft>
                <a:spcPts val="1000"/>
              </a:spcAft>
              <a:buNone/>
            </a:pPr>
            <a:r>
              <a:rPr lang="en-US" sz="1150" b="1" dirty="0">
                <a:solidFill>
                  <a:srgbClr val="2C2C2A"/>
                </a:solidFill>
                <a:latin typeface="Arial" pitchFamily="34" charset="0"/>
                <a:ea typeface="Arial" pitchFamily="34" charset="-122"/>
                <a:cs typeface="Arial" pitchFamily="34" charset="-120"/>
              </a:rPr>
              <a:t>Árbol: </a:t>
            </a:r>
            <a:r>
              <a:rPr lang="en-US" sz="1150" dirty="0">
                <a:solidFill>
                  <a:srgbClr val="2C2C2A"/>
                </a:solidFill>
                <a:latin typeface="Arial" pitchFamily="34" charset="0"/>
                <a:ea typeface="Arial" pitchFamily="34" charset="-122"/>
                <a:cs typeface="Arial" pitchFamily="34" charset="-120"/>
              </a:rPr>
              <a:t>conservador. Pocas falsas alarmas, pero deja pasar más fraude.</a:t>
            </a:r>
            <a:endParaRPr lang="en-US" sz="1150" dirty="0"/>
          </a:p>
          <a:p>
            <a:pPr marL="0" indent="0">
              <a:lnSpc>
                <a:spcPts val="1600"/>
              </a:lnSpc>
              <a:spcAft>
                <a:spcPts val="1000"/>
              </a:spcAft>
              <a:buNone/>
            </a:pPr>
            <a:r>
              <a:rPr lang="en-US" sz="1150" b="1" dirty="0">
                <a:solidFill>
                  <a:srgbClr val="26215C"/>
                </a:solidFill>
                <a:latin typeface="Arial" pitchFamily="34" charset="0"/>
                <a:ea typeface="Arial" pitchFamily="34" charset="-122"/>
                <a:cs typeface="Arial" pitchFamily="34" charset="-120"/>
              </a:rPr>
              <a:t>Regresión: </a:t>
            </a:r>
            <a:r>
              <a:rPr lang="en-US" sz="1150" dirty="0">
                <a:solidFill>
                  <a:srgbClr val="2C2C2A"/>
                </a:solidFill>
                <a:latin typeface="Arial" pitchFamily="34" charset="0"/>
                <a:ea typeface="Arial" pitchFamily="34" charset="-122"/>
                <a:cs typeface="Arial" pitchFamily="34" charset="-120"/>
              </a:rPr>
              <a:t>agresiva. Detecta más fraude, a costa de más alarmas falsas.</a:t>
            </a:r>
            <a:endParaRPr lang="en-US" sz="1150" dirty="0"/>
          </a:p>
          <a:p>
            <a:pPr marL="0" indent="0">
              <a:lnSpc>
                <a:spcPts val="1600"/>
              </a:lnSpc>
              <a:spcAft>
                <a:spcPts val="1000"/>
              </a:spcAft>
              <a:buNone/>
            </a:pPr>
            <a:r>
              <a:rPr lang="en-US" sz="1150" b="1" dirty="0">
                <a:solidFill>
                  <a:srgbClr val="0F6E56"/>
                </a:solidFill>
                <a:latin typeface="Arial" pitchFamily="34" charset="0"/>
                <a:ea typeface="Arial" pitchFamily="34" charset="-122"/>
                <a:cs typeface="Arial" pitchFamily="34" charset="-120"/>
              </a:rPr>
              <a:t>CatBoost: </a:t>
            </a:r>
            <a:r>
              <a:rPr lang="en-US" sz="1150" dirty="0">
                <a:solidFill>
                  <a:srgbClr val="2C2C2A"/>
                </a:solidFill>
                <a:latin typeface="Arial" pitchFamily="34" charset="0"/>
                <a:ea typeface="Arial" pitchFamily="34" charset="-122"/>
                <a:cs typeface="Arial" pitchFamily="34" charset="-120"/>
              </a:rPr>
              <a:t>el mejor balance en casi todas las métricas.</a:t>
            </a:r>
            <a:endParaRPr lang="en-US" sz="1150" dirty="0"/>
          </a:p>
        </p:txBody>
      </p:sp>
      <p:sp>
        <p:nvSpPr>
          <p:cNvPr id="8" name="Text 5"/>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26215C"/>
                </a:solidFill>
                <a:latin typeface="Arial" pitchFamily="34" charset="0"/>
                <a:ea typeface="Arial" pitchFamily="34" charset="-122"/>
                <a:cs typeface="Arial" pitchFamily="34" charset="-120"/>
              </a:rPr>
              <a:t>HALLAZGOS · ÁRBOL DE DECISIÓN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300" b="1" dirty="0">
                <a:solidFill>
                  <a:srgbClr val="2C2C2A"/>
                </a:solidFill>
                <a:latin typeface="Arial" pitchFamily="34" charset="0"/>
                <a:ea typeface="Arial" pitchFamily="34" charset="-122"/>
                <a:cs typeface="Arial" pitchFamily="34" charset="-120"/>
              </a:rPr>
              <a:t>Dos preguntas explican casi todo el riesgo</a:t>
            </a:r>
            <a:endParaRPr lang="en-US" sz="2300" dirty="0"/>
          </a:p>
        </p:txBody>
      </p:sp>
      <p:sp>
        <p:nvSpPr>
          <p:cNvPr id="4" name="Text 2"/>
          <p:cNvSpPr/>
          <p:nvPr/>
        </p:nvSpPr>
        <p:spPr>
          <a:xfrm>
            <a:off x="548640" y="1463040"/>
            <a:ext cx="11064240" cy="457200"/>
          </a:xfrm>
          <a:prstGeom prst="rect">
            <a:avLst/>
          </a:prstGeom>
          <a:noFill/>
          <a:ln/>
        </p:spPr>
        <p:txBody>
          <a:bodyPr wrap="square" rtlCol="0" anchor="ctr"/>
          <a:lstStyle/>
          <a:p>
            <a:pPr marL="0" indent="0">
              <a:lnSpc>
                <a:spcPts val="1600"/>
              </a:lnSpc>
              <a:buNone/>
            </a:pPr>
            <a:r>
              <a:rPr lang="en-US" sz="1250" b="1" dirty="0">
                <a:solidFill>
                  <a:srgbClr val="26215C"/>
                </a:solidFill>
                <a:latin typeface="Arial" pitchFamily="34" charset="0"/>
                <a:ea typeface="Arial" pitchFamily="34" charset="-122"/>
                <a:cs typeface="Arial" pitchFamily="34" charset="-120"/>
              </a:rPr>
              <a:t>1ª pregunta del árbol: </a:t>
            </a:r>
            <a:r>
              <a:rPr lang="en-US" sz="1250" dirty="0">
                <a:solidFill>
                  <a:srgbClr val="2C2C2A"/>
                </a:solidFill>
                <a:latin typeface="Arial" pitchFamily="34" charset="0"/>
                <a:ea typeface="Arial" pitchFamily="34" charset="-122"/>
                <a:cs typeface="Arial" pitchFamily="34" charset="-120"/>
              </a:rPr>
              <a:t>días hasta notificar el siniestro (más o menos de 229 días)  ·  </a:t>
            </a:r>
            <a:r>
              <a:rPr lang="en-US" sz="1250" b="1" dirty="0">
                <a:solidFill>
                  <a:srgbClr val="26215C"/>
                </a:solidFill>
                <a:latin typeface="Arial" pitchFamily="34" charset="0"/>
                <a:ea typeface="Arial" pitchFamily="34" charset="-122"/>
                <a:cs typeface="Arial" pitchFamily="34" charset="-120"/>
              </a:rPr>
              <a:t>2ª pregunta: </a:t>
            </a:r>
            <a:r>
              <a:rPr lang="en-US" sz="1250" dirty="0">
                <a:solidFill>
                  <a:srgbClr val="2C2C2A"/>
                </a:solidFill>
                <a:latin typeface="Arial" pitchFamily="34" charset="0"/>
                <a:ea typeface="Arial" pitchFamily="34" charset="-122"/>
                <a:cs typeface="Arial" pitchFamily="34" charset="-120"/>
              </a:rPr>
              <a:t>canal de apertura del caso</a:t>
            </a:r>
            <a:endParaRPr lang="en-US" sz="1250" dirty="0"/>
          </a:p>
        </p:txBody>
      </p:sp>
      <p:sp>
        <p:nvSpPr>
          <p:cNvPr id="5" name="Shape 3"/>
          <p:cNvSpPr/>
          <p:nvPr/>
        </p:nvSpPr>
        <p:spPr>
          <a:xfrm>
            <a:off x="548640" y="2057400"/>
            <a:ext cx="5440680" cy="3246120"/>
          </a:xfrm>
          <a:prstGeom prst="roundRect">
            <a:avLst>
              <a:gd name="adj" fmla="val 3380"/>
            </a:avLst>
          </a:prstGeom>
          <a:solidFill>
            <a:srgbClr val="FAECE7"/>
          </a:solidFill>
          <a:ln/>
        </p:spPr>
        <p:txBody>
          <a:bodyPr/>
          <a:lstStyle/>
          <a:p>
            <a:endParaRPr lang="es-CO"/>
          </a:p>
        </p:txBody>
      </p:sp>
      <p:sp>
        <p:nvSpPr>
          <p:cNvPr id="6" name="Text 4"/>
          <p:cNvSpPr/>
          <p:nvPr/>
        </p:nvSpPr>
        <p:spPr>
          <a:xfrm>
            <a:off x="868680" y="2240280"/>
            <a:ext cx="4846320" cy="365760"/>
          </a:xfrm>
          <a:prstGeom prst="rect">
            <a:avLst/>
          </a:prstGeom>
          <a:noFill/>
          <a:ln/>
        </p:spPr>
        <p:txBody>
          <a:bodyPr wrap="square" rtlCol="0" anchor="ctr"/>
          <a:lstStyle/>
          <a:p>
            <a:pPr marL="0" indent="0">
              <a:buNone/>
            </a:pPr>
            <a:r>
              <a:rPr lang="en-US" sz="1450" b="1" dirty="0">
                <a:solidFill>
                  <a:srgbClr val="D85A30"/>
                </a:solidFill>
                <a:latin typeface="Arial" pitchFamily="34" charset="0"/>
                <a:ea typeface="Arial" pitchFamily="34" charset="-122"/>
                <a:cs typeface="Arial" pitchFamily="34" charset="-120"/>
              </a:rPr>
              <a:t>Riesgo alto — 98% fraude</a:t>
            </a:r>
            <a:endParaRPr lang="en-US" sz="1450" dirty="0"/>
          </a:p>
        </p:txBody>
      </p:sp>
      <p:sp>
        <p:nvSpPr>
          <p:cNvPr id="7" name="Text 5"/>
          <p:cNvSpPr/>
          <p:nvPr/>
        </p:nvSpPr>
        <p:spPr>
          <a:xfrm>
            <a:off x="868680" y="2578608"/>
            <a:ext cx="4846320" cy="274320"/>
          </a:xfrm>
          <a:prstGeom prst="rect">
            <a:avLst/>
          </a:prstGeom>
          <a:noFill/>
          <a:ln/>
        </p:spPr>
        <p:txBody>
          <a:bodyPr wrap="square" rtlCol="0" anchor="ctr"/>
          <a:lstStyle/>
          <a:p>
            <a:pPr marL="0" indent="0">
              <a:buNone/>
            </a:pPr>
            <a:r>
              <a:rPr lang="en-US" sz="1000" i="1" dirty="0">
                <a:solidFill>
                  <a:srgbClr val="5F5E5A"/>
                </a:solidFill>
                <a:latin typeface="Arial" pitchFamily="34" charset="0"/>
                <a:ea typeface="Arial" pitchFamily="34" charset="-122"/>
                <a:cs typeface="Arial" pitchFamily="34" charset="-120"/>
              </a:rPr>
              <a:t>2.552 de 2.591 casos con este patrón</a:t>
            </a:r>
            <a:endParaRPr lang="en-US" sz="1000" dirty="0"/>
          </a:p>
        </p:txBody>
      </p:sp>
      <p:sp>
        <p:nvSpPr>
          <p:cNvPr id="8" name="Text 6"/>
          <p:cNvSpPr/>
          <p:nvPr/>
        </p:nvSpPr>
        <p:spPr>
          <a:xfrm>
            <a:off x="868680" y="2971800"/>
            <a:ext cx="4846320" cy="1371600"/>
          </a:xfrm>
          <a:prstGeom prst="rect">
            <a:avLst/>
          </a:prstGeom>
          <a:noFill/>
          <a:ln/>
        </p:spPr>
        <p:txBody>
          <a:bodyPr wrap="square" rtlCol="0" anchor="ctr"/>
          <a:lstStyle/>
          <a:p>
            <a:pPr marL="0" indent="0">
              <a:lnSpc>
                <a:spcPts val="2200"/>
              </a:lnSpc>
              <a:spcAft>
                <a:spcPts val="5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Notificación tardía (más de 229 días)</a:t>
            </a:r>
            <a:endParaRPr lang="en-US" sz="1250" dirty="0"/>
          </a:p>
          <a:p>
            <a:pPr marL="0" indent="0">
              <a:lnSpc>
                <a:spcPts val="2200"/>
              </a:lnSpc>
              <a:spcAft>
                <a:spcPts val="5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Apertura por oficina o canal digital</a:t>
            </a:r>
            <a:endParaRPr lang="en-US" sz="1250" dirty="0"/>
          </a:p>
          <a:p>
            <a:pPr marL="0" indent="0">
              <a:lnSpc>
                <a:spcPts val="2200"/>
              </a:lnSpc>
              <a:spcAft>
                <a:spcPts val="5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Cobertura distinta de Renta o Vida</a:t>
            </a:r>
            <a:endParaRPr lang="en-US" sz="1250" dirty="0"/>
          </a:p>
        </p:txBody>
      </p:sp>
      <p:sp>
        <p:nvSpPr>
          <p:cNvPr id="9" name="Shape 7"/>
          <p:cNvSpPr/>
          <p:nvPr/>
        </p:nvSpPr>
        <p:spPr>
          <a:xfrm>
            <a:off x="6172200" y="2057400"/>
            <a:ext cx="5440680" cy="3246120"/>
          </a:xfrm>
          <a:prstGeom prst="roundRect">
            <a:avLst>
              <a:gd name="adj" fmla="val 3380"/>
            </a:avLst>
          </a:prstGeom>
          <a:solidFill>
            <a:srgbClr val="E1F5EE"/>
          </a:solidFill>
          <a:ln/>
        </p:spPr>
        <p:txBody>
          <a:bodyPr/>
          <a:lstStyle/>
          <a:p>
            <a:endParaRPr lang="es-CO"/>
          </a:p>
        </p:txBody>
      </p:sp>
      <p:sp>
        <p:nvSpPr>
          <p:cNvPr id="10" name="Text 8"/>
          <p:cNvSpPr/>
          <p:nvPr/>
        </p:nvSpPr>
        <p:spPr>
          <a:xfrm>
            <a:off x="6492240" y="2240280"/>
            <a:ext cx="4846320" cy="365760"/>
          </a:xfrm>
          <a:prstGeom prst="rect">
            <a:avLst/>
          </a:prstGeom>
          <a:noFill/>
          <a:ln/>
        </p:spPr>
        <p:txBody>
          <a:bodyPr wrap="square" rtlCol="0" anchor="ctr"/>
          <a:lstStyle/>
          <a:p>
            <a:pPr marL="0" indent="0">
              <a:buNone/>
            </a:pPr>
            <a:r>
              <a:rPr lang="en-US" sz="1450" b="1" dirty="0">
                <a:solidFill>
                  <a:srgbClr val="0F6E56"/>
                </a:solidFill>
                <a:latin typeface="Arial" pitchFamily="34" charset="0"/>
                <a:ea typeface="Arial" pitchFamily="34" charset="-122"/>
                <a:cs typeface="Arial" pitchFamily="34" charset="-120"/>
              </a:rPr>
              <a:t>Riesgo bajo — 66% no es fraude</a:t>
            </a:r>
            <a:endParaRPr lang="en-US" sz="1450" dirty="0"/>
          </a:p>
        </p:txBody>
      </p:sp>
      <p:sp>
        <p:nvSpPr>
          <p:cNvPr id="11" name="Text 9"/>
          <p:cNvSpPr/>
          <p:nvPr/>
        </p:nvSpPr>
        <p:spPr>
          <a:xfrm>
            <a:off x="6492240" y="2578608"/>
            <a:ext cx="4846320" cy="274320"/>
          </a:xfrm>
          <a:prstGeom prst="rect">
            <a:avLst/>
          </a:prstGeom>
          <a:noFill/>
          <a:ln/>
        </p:spPr>
        <p:txBody>
          <a:bodyPr wrap="square" rtlCol="0" anchor="ctr"/>
          <a:lstStyle/>
          <a:p>
            <a:pPr marL="0" indent="0">
              <a:buNone/>
            </a:pPr>
            <a:r>
              <a:rPr lang="en-US" sz="1000" i="1" dirty="0">
                <a:solidFill>
                  <a:srgbClr val="5F5E5A"/>
                </a:solidFill>
                <a:latin typeface="Arial" pitchFamily="34" charset="0"/>
                <a:ea typeface="Arial" pitchFamily="34" charset="-122"/>
                <a:cs typeface="Arial" pitchFamily="34" charset="-120"/>
              </a:rPr>
              <a:t>2.468 de 3.763 casos con este patrón</a:t>
            </a:r>
            <a:endParaRPr lang="en-US" sz="1000" dirty="0"/>
          </a:p>
        </p:txBody>
      </p:sp>
      <p:sp>
        <p:nvSpPr>
          <p:cNvPr id="12" name="Text 10"/>
          <p:cNvSpPr/>
          <p:nvPr/>
        </p:nvSpPr>
        <p:spPr>
          <a:xfrm>
            <a:off x="6492240" y="2971800"/>
            <a:ext cx="4846320" cy="1371600"/>
          </a:xfrm>
          <a:prstGeom prst="rect">
            <a:avLst/>
          </a:prstGeom>
          <a:noFill/>
          <a:ln/>
        </p:spPr>
        <p:txBody>
          <a:bodyPr wrap="square" rtlCol="0" anchor="ctr"/>
          <a:lstStyle/>
          <a:p>
            <a:pPr marL="0" indent="0">
              <a:lnSpc>
                <a:spcPts val="2200"/>
              </a:lnSpc>
              <a:spcAft>
                <a:spcPts val="5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Notificación rápida (menos de 229 días)</a:t>
            </a:r>
            <a:endParaRPr lang="en-US" sz="1250" dirty="0"/>
          </a:p>
          <a:p>
            <a:pPr marL="0" indent="0">
              <a:lnSpc>
                <a:spcPts val="2200"/>
              </a:lnSpc>
              <a:spcAft>
                <a:spcPts val="5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Apertura por asesor o digitador</a:t>
            </a:r>
            <a:endParaRPr lang="en-US" sz="1250" dirty="0"/>
          </a:p>
          <a:p>
            <a:pPr marL="0" indent="0">
              <a:lnSpc>
                <a:spcPts val="2200"/>
              </a:lnSpc>
              <a:spcAft>
                <a:spcPts val="5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2C2C2A"/>
                </a:solidFill>
                <a:latin typeface="Arial" pitchFamily="34" charset="0"/>
                <a:ea typeface="Arial" pitchFamily="34" charset="-122"/>
                <a:cs typeface="Arial" pitchFamily="34" charset="-120"/>
              </a:rPr>
              <a:t>Siniestro dentro de los primeros ~240 días de vigencia</a:t>
            </a:r>
            <a:endParaRPr lang="en-US" sz="1250" dirty="0"/>
          </a:p>
        </p:txBody>
      </p:sp>
      <p:sp>
        <p:nvSpPr>
          <p:cNvPr id="13" name="Shape 11"/>
          <p:cNvSpPr/>
          <p:nvPr/>
        </p:nvSpPr>
        <p:spPr>
          <a:xfrm>
            <a:off x="548640" y="5486400"/>
            <a:ext cx="11064240" cy="868680"/>
          </a:xfrm>
          <a:prstGeom prst="roundRect">
            <a:avLst>
              <a:gd name="adj" fmla="val 8421"/>
            </a:avLst>
          </a:prstGeom>
          <a:solidFill>
            <a:srgbClr val="FAEEDA"/>
          </a:solidFill>
          <a:ln/>
        </p:spPr>
        <p:txBody>
          <a:bodyPr/>
          <a:lstStyle/>
          <a:p>
            <a:endParaRPr lang="es-CO"/>
          </a:p>
        </p:txBody>
      </p:sp>
      <p:sp>
        <p:nvSpPr>
          <p:cNvPr id="14" name="Text 12"/>
          <p:cNvSpPr/>
          <p:nvPr/>
        </p:nvSpPr>
        <p:spPr>
          <a:xfrm>
            <a:off x="822960" y="5486400"/>
            <a:ext cx="10424160" cy="868680"/>
          </a:xfrm>
          <a:prstGeom prst="rect">
            <a:avLst/>
          </a:prstGeom>
          <a:noFill/>
          <a:ln/>
        </p:spPr>
        <p:txBody>
          <a:bodyPr wrap="square" rtlCol="0" anchor="ctr"/>
          <a:lstStyle/>
          <a:p>
            <a:pPr marL="0" indent="0">
              <a:lnSpc>
                <a:spcPts val="1600"/>
              </a:lnSpc>
              <a:buNone/>
            </a:pPr>
            <a:r>
              <a:rPr lang="en-US" sz="1200" b="1" dirty="0">
                <a:solidFill>
                  <a:srgbClr val="854F0B"/>
                </a:solidFill>
                <a:latin typeface="Arial" pitchFamily="34" charset="0"/>
                <a:ea typeface="Arial" pitchFamily="34" charset="-122"/>
                <a:cs typeface="Arial" pitchFamily="34" charset="-120"/>
              </a:rPr>
              <a:t>Canal digital, señal propia de riesgo: </a:t>
            </a:r>
            <a:r>
              <a:rPr lang="en-US" sz="1200" dirty="0">
                <a:solidFill>
                  <a:srgbClr val="2C2C2A"/>
                </a:solidFill>
                <a:latin typeface="Arial" pitchFamily="34" charset="0"/>
                <a:ea typeface="Arial" pitchFamily="34" charset="-122"/>
                <a:cs typeface="Arial" pitchFamily="34" charset="-120"/>
              </a:rPr>
              <a:t>incluso con notificación rápida, el 60% de los casos abiertos por Reclamaciones Digital son fraude.</a:t>
            </a:r>
            <a:endParaRPr lang="en-US" sz="1200" dirty="0"/>
          </a:p>
        </p:txBody>
      </p:sp>
      <p:sp>
        <p:nvSpPr>
          <p:cNvPr id="15" name="Text 13"/>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26215C"/>
                </a:solidFill>
                <a:latin typeface="Arial" pitchFamily="34" charset="0"/>
                <a:ea typeface="Arial" pitchFamily="34" charset="-122"/>
                <a:cs typeface="Arial" pitchFamily="34" charset="-120"/>
              </a:rPr>
              <a:t>HALLAZGOS · REGRESIÓN LOGÍSTICA</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300" b="1" dirty="0">
                <a:solidFill>
                  <a:srgbClr val="2C2C2A"/>
                </a:solidFill>
                <a:latin typeface="Arial" pitchFamily="34" charset="0"/>
                <a:ea typeface="Arial" pitchFamily="34" charset="-122"/>
                <a:cs typeface="Arial" pitchFamily="34" charset="-120"/>
              </a:rPr>
              <a:t>Cuánto pesa cada variable, en números exactos</a:t>
            </a:r>
            <a:endParaRPr lang="en-US" sz="2300" dirty="0"/>
          </a:p>
        </p:txBody>
      </p:sp>
      <p:sp>
        <p:nvSpPr>
          <p:cNvPr id="4" name="Shape 2"/>
          <p:cNvSpPr/>
          <p:nvPr/>
        </p:nvSpPr>
        <p:spPr>
          <a:xfrm>
            <a:off x="548640" y="1554480"/>
            <a:ext cx="5349240" cy="4663440"/>
          </a:xfrm>
          <a:prstGeom prst="roundRect">
            <a:avLst>
              <a:gd name="adj" fmla="val 2353"/>
            </a:avLst>
          </a:prstGeom>
          <a:solidFill>
            <a:srgbClr val="F1EFE8"/>
          </a:solidFill>
          <a:ln/>
        </p:spPr>
        <p:txBody>
          <a:bodyPr/>
          <a:lstStyle/>
          <a:p>
            <a:endParaRPr lang="es-CO"/>
          </a:p>
        </p:txBody>
      </p:sp>
      <p:sp>
        <p:nvSpPr>
          <p:cNvPr id="5" name="Text 3"/>
          <p:cNvSpPr/>
          <p:nvPr/>
        </p:nvSpPr>
        <p:spPr>
          <a:xfrm>
            <a:off x="868680" y="1737360"/>
            <a:ext cx="4754880" cy="320040"/>
          </a:xfrm>
          <a:prstGeom prst="rect">
            <a:avLst/>
          </a:prstGeom>
          <a:noFill/>
          <a:ln/>
        </p:spPr>
        <p:txBody>
          <a:bodyPr wrap="square" rtlCol="0" anchor="ctr"/>
          <a:lstStyle/>
          <a:p>
            <a:pPr marL="0" indent="0">
              <a:buNone/>
            </a:pPr>
            <a:r>
              <a:rPr lang="en-US" sz="1400" b="1" dirty="0">
                <a:solidFill>
                  <a:srgbClr val="2C2C2A"/>
                </a:solidFill>
                <a:latin typeface="Arial" pitchFamily="34" charset="0"/>
                <a:ea typeface="Arial" pitchFamily="34" charset="-122"/>
                <a:cs typeface="Arial" pitchFamily="34" charset="-120"/>
              </a:rPr>
              <a:t>Variables numéricas</a:t>
            </a:r>
            <a:endParaRPr lang="en-US" sz="1400" dirty="0"/>
          </a:p>
        </p:txBody>
      </p:sp>
      <p:sp>
        <p:nvSpPr>
          <p:cNvPr id="6" name="Text 4"/>
          <p:cNvSpPr/>
          <p:nvPr/>
        </p:nvSpPr>
        <p:spPr>
          <a:xfrm>
            <a:off x="868680" y="2103120"/>
            <a:ext cx="4754880" cy="3977640"/>
          </a:xfrm>
          <a:prstGeom prst="rect">
            <a:avLst/>
          </a:prstGeom>
          <a:noFill/>
          <a:ln/>
        </p:spPr>
        <p:txBody>
          <a:bodyPr wrap="square" rtlCol="0" anchor="ctr"/>
          <a:lstStyle/>
          <a:p>
            <a:pPr marL="0" indent="0">
              <a:lnSpc>
                <a:spcPts val="1600"/>
              </a:lnSpc>
              <a:spcAft>
                <a:spcPts val="600"/>
              </a:spcAft>
              <a:buNone/>
            </a:pPr>
            <a:r>
              <a:rPr lang="en-US" sz="1150" b="1" dirty="0">
                <a:solidFill>
                  <a:srgbClr val="2C2C2A"/>
                </a:solidFill>
                <a:latin typeface="Arial" pitchFamily="34" charset="0"/>
                <a:ea typeface="Arial" pitchFamily="34" charset="-122"/>
                <a:cs typeface="Arial" pitchFamily="34" charset="-120"/>
              </a:rPr>
              <a:t>Notificación tardía → </a:t>
            </a:r>
            <a:r>
              <a:rPr lang="en-US" sz="1150" dirty="0">
                <a:solidFill>
                  <a:srgbClr val="2C2C2A"/>
                </a:solidFill>
                <a:latin typeface="Arial" pitchFamily="34" charset="0"/>
                <a:ea typeface="Arial" pitchFamily="34" charset="-122"/>
                <a:cs typeface="Arial" pitchFamily="34" charset="-120"/>
              </a:rPr>
              <a:t>11,7x más riesgo por cada unidad de retraso. La relación más fuerte del modelo.</a:t>
            </a:r>
            <a:endParaRPr lang="en-US" sz="1150" dirty="0"/>
          </a:p>
          <a:p>
            <a:pPr marL="0" indent="0">
              <a:lnSpc>
                <a:spcPts val="1600"/>
              </a:lnSpc>
              <a:spcAft>
                <a:spcPts val="600"/>
              </a:spcAft>
              <a:buNone/>
            </a:pPr>
            <a:r>
              <a:rPr lang="en-US" sz="1150" dirty="0">
                <a:solidFill>
                  <a:srgbClr val="2C2C2A"/>
                </a:solidFill>
                <a:latin typeface="Arial" pitchFamily="34" charset="0"/>
                <a:ea typeface="Arial" pitchFamily="34" charset="-122"/>
                <a:cs typeface="Arial" pitchFamily="34" charset="-120"/>
              </a:rPr>
              <a:t> </a:t>
            </a:r>
            <a:endParaRPr lang="en-US" sz="1150" dirty="0"/>
          </a:p>
          <a:p>
            <a:pPr marL="0" indent="0">
              <a:lnSpc>
                <a:spcPts val="1600"/>
              </a:lnSpc>
              <a:spcAft>
                <a:spcPts val="600"/>
              </a:spcAft>
              <a:buNone/>
            </a:pPr>
            <a:r>
              <a:rPr lang="en-US" sz="1150" b="1" dirty="0">
                <a:solidFill>
                  <a:srgbClr val="2C2C2A"/>
                </a:solidFill>
                <a:latin typeface="Arial" pitchFamily="34" charset="0"/>
                <a:ea typeface="Arial" pitchFamily="34" charset="-122"/>
                <a:cs typeface="Arial" pitchFamily="34" charset="-120"/>
              </a:rPr>
              <a:t>Reclamaciones previas → </a:t>
            </a:r>
            <a:r>
              <a:rPr lang="en-US" sz="1150" dirty="0">
                <a:solidFill>
                  <a:srgbClr val="2C2C2A"/>
                </a:solidFill>
                <a:latin typeface="Arial" pitchFamily="34" charset="0"/>
                <a:ea typeface="Arial" pitchFamily="34" charset="-122"/>
                <a:cs typeface="Arial" pitchFamily="34" charset="-120"/>
              </a:rPr>
              <a:t>1,94x más riesgo. Los reincidentes son más propensos al fraude.</a:t>
            </a:r>
            <a:endParaRPr lang="en-US" sz="1150" dirty="0"/>
          </a:p>
          <a:p>
            <a:pPr marL="0" indent="0">
              <a:lnSpc>
                <a:spcPts val="1600"/>
              </a:lnSpc>
              <a:spcAft>
                <a:spcPts val="600"/>
              </a:spcAft>
              <a:buNone/>
            </a:pPr>
            <a:r>
              <a:rPr lang="en-US" sz="1150" dirty="0">
                <a:solidFill>
                  <a:srgbClr val="2C2C2A"/>
                </a:solidFill>
                <a:latin typeface="Arial" pitchFamily="34" charset="0"/>
                <a:ea typeface="Arial" pitchFamily="34" charset="-122"/>
                <a:cs typeface="Arial" pitchFamily="34" charset="-120"/>
              </a:rPr>
              <a:t> </a:t>
            </a:r>
            <a:endParaRPr lang="en-US" sz="1150" dirty="0"/>
          </a:p>
          <a:p>
            <a:pPr marL="0" indent="0">
              <a:lnSpc>
                <a:spcPts val="1600"/>
              </a:lnSpc>
              <a:spcAft>
                <a:spcPts val="600"/>
              </a:spcAft>
              <a:buNone/>
            </a:pPr>
            <a:r>
              <a:rPr lang="en-US" sz="1150" b="1" dirty="0">
                <a:solidFill>
                  <a:srgbClr val="2C2C2A"/>
                </a:solidFill>
                <a:latin typeface="Arial" pitchFamily="34" charset="0"/>
                <a:ea typeface="Arial" pitchFamily="34" charset="-122"/>
                <a:cs typeface="Arial" pitchFamily="34" charset="-120"/>
              </a:rPr>
              <a:t>Antigüedad de la póliza → </a:t>
            </a:r>
            <a:r>
              <a:rPr lang="en-US" sz="1150" dirty="0">
                <a:solidFill>
                  <a:srgbClr val="2C2C2A"/>
                </a:solidFill>
                <a:latin typeface="Arial" pitchFamily="34" charset="0"/>
                <a:ea typeface="Arial" pitchFamily="34" charset="-122"/>
                <a:cs typeface="Arial" pitchFamily="34" charset="-120"/>
              </a:rPr>
              <a:t>a menor tiempo entre inicio de póliza y siniestro, mayor riesgo (relación inversa, 0,66x). Confirma la sospecha de pólizas compradas para reclamar casi enseguida.</a:t>
            </a:r>
            <a:endParaRPr lang="en-US" sz="1150" dirty="0"/>
          </a:p>
        </p:txBody>
      </p:sp>
      <p:sp>
        <p:nvSpPr>
          <p:cNvPr id="7" name="Shape 5"/>
          <p:cNvSpPr/>
          <p:nvPr/>
        </p:nvSpPr>
        <p:spPr>
          <a:xfrm>
            <a:off x="6080760" y="1554480"/>
            <a:ext cx="5532120" cy="4663440"/>
          </a:xfrm>
          <a:prstGeom prst="roundRect">
            <a:avLst>
              <a:gd name="adj" fmla="val 2353"/>
            </a:avLst>
          </a:prstGeom>
          <a:solidFill>
            <a:srgbClr val="E1F5EE"/>
          </a:solidFill>
          <a:ln/>
        </p:spPr>
        <p:txBody>
          <a:bodyPr/>
          <a:lstStyle/>
          <a:p>
            <a:endParaRPr lang="es-CO"/>
          </a:p>
        </p:txBody>
      </p:sp>
      <p:sp>
        <p:nvSpPr>
          <p:cNvPr id="8" name="Text 6"/>
          <p:cNvSpPr/>
          <p:nvPr/>
        </p:nvSpPr>
        <p:spPr>
          <a:xfrm>
            <a:off x="6400800" y="1737360"/>
            <a:ext cx="4937760" cy="320040"/>
          </a:xfrm>
          <a:prstGeom prst="rect">
            <a:avLst/>
          </a:prstGeom>
          <a:noFill/>
          <a:ln/>
        </p:spPr>
        <p:txBody>
          <a:bodyPr wrap="square" rtlCol="0" anchor="ctr"/>
          <a:lstStyle/>
          <a:p>
            <a:pPr marL="0" indent="0">
              <a:buNone/>
            </a:pPr>
            <a:r>
              <a:rPr lang="en-US" sz="1400" b="1" dirty="0">
                <a:solidFill>
                  <a:srgbClr val="2C2C2A"/>
                </a:solidFill>
                <a:latin typeface="Arial" pitchFamily="34" charset="0"/>
                <a:ea typeface="Arial" pitchFamily="34" charset="-122"/>
                <a:cs typeface="Arial" pitchFamily="34" charset="-120"/>
              </a:rPr>
              <a:t>Variables categóricas (vs. su categoría base)</a:t>
            </a:r>
            <a:endParaRPr lang="en-US" sz="1400" dirty="0"/>
          </a:p>
        </p:txBody>
      </p:sp>
      <p:sp>
        <p:nvSpPr>
          <p:cNvPr id="9" name="Text 7"/>
          <p:cNvSpPr/>
          <p:nvPr/>
        </p:nvSpPr>
        <p:spPr>
          <a:xfrm>
            <a:off x="6400800" y="2103120"/>
            <a:ext cx="4937760" cy="3977640"/>
          </a:xfrm>
          <a:prstGeom prst="rect">
            <a:avLst/>
          </a:prstGeom>
          <a:noFill/>
          <a:ln/>
        </p:spPr>
        <p:txBody>
          <a:bodyPr wrap="square" rtlCol="0" anchor="ctr"/>
          <a:lstStyle/>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Apertura Reclamaciones Digital → </a:t>
            </a:r>
            <a:r>
              <a:rPr lang="en-US" sz="1100" dirty="0">
                <a:solidFill>
                  <a:srgbClr val="2C2C2A"/>
                </a:solidFill>
                <a:latin typeface="Arial" pitchFamily="34" charset="0"/>
                <a:ea typeface="Arial" pitchFamily="34" charset="-122"/>
                <a:cs typeface="Arial" pitchFamily="34" charset="-120"/>
              </a:rPr>
              <a:t>3,19x más riesgo que Asesor</a:t>
            </a:r>
            <a:endParaRPr lang="en-US" sz="1100" dirty="0"/>
          </a:p>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Apertura Oficina → </a:t>
            </a:r>
            <a:r>
              <a:rPr lang="en-US" sz="1100" dirty="0">
                <a:solidFill>
                  <a:srgbClr val="2C2C2A"/>
                </a:solidFill>
                <a:latin typeface="Arial" pitchFamily="34" charset="0"/>
                <a:ea typeface="Arial" pitchFamily="34" charset="-122"/>
                <a:cs typeface="Arial" pitchFamily="34" charset="-120"/>
              </a:rPr>
              <a:t>2,85x más riesgo que Asesor</a:t>
            </a:r>
            <a:endParaRPr lang="en-US" sz="1100" dirty="0"/>
          </a:p>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Apertura Digitador Externo → </a:t>
            </a:r>
            <a:r>
              <a:rPr lang="en-US" sz="1100" dirty="0">
                <a:solidFill>
                  <a:srgbClr val="2C2C2A"/>
                </a:solidFill>
                <a:latin typeface="Arial" pitchFamily="34" charset="0"/>
                <a:ea typeface="Arial" pitchFamily="34" charset="-122"/>
                <a:cs typeface="Arial" pitchFamily="34" charset="-120"/>
              </a:rPr>
              <a:t>la mitad de riesgo (0,50x), canal más seguro</a:t>
            </a:r>
            <a:endParaRPr lang="en-US" sz="1100" dirty="0"/>
          </a:p>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Cobertura Vida → </a:t>
            </a:r>
            <a:r>
              <a:rPr lang="en-US" sz="1100" dirty="0">
                <a:solidFill>
                  <a:srgbClr val="2C2C2A"/>
                </a:solidFill>
                <a:latin typeface="Arial" pitchFamily="34" charset="0"/>
                <a:ea typeface="Arial" pitchFamily="34" charset="-122"/>
                <a:cs typeface="Arial" pitchFamily="34" charset="-120"/>
              </a:rPr>
              <a:t>menos de la mitad de riesgo (0,44x)</a:t>
            </a:r>
            <a:endParaRPr lang="en-US" sz="1100" dirty="0"/>
          </a:p>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Cobertura Especiales → </a:t>
            </a:r>
            <a:r>
              <a:rPr lang="en-US" sz="1100" dirty="0">
                <a:solidFill>
                  <a:srgbClr val="2C2C2A"/>
                </a:solidFill>
                <a:latin typeface="Arial" pitchFamily="34" charset="0"/>
                <a:ea typeface="Arial" pitchFamily="34" charset="-122"/>
                <a:cs typeface="Arial" pitchFamily="34" charset="-120"/>
              </a:rPr>
              <a:t>también bajo riesgo (0,39x)</a:t>
            </a:r>
            <a:endParaRPr lang="en-US" sz="1100" dirty="0"/>
          </a:p>
          <a:p>
            <a:pPr marL="0" indent="0">
              <a:lnSpc>
                <a:spcPts val="1500"/>
              </a:lnSpc>
              <a:spcAft>
                <a:spcPts val="500"/>
              </a:spcAft>
              <a:buNone/>
            </a:pPr>
            <a:r>
              <a:rPr lang="en-US" sz="1100" b="1" dirty="0">
                <a:solidFill>
                  <a:srgbClr val="2C2C2A"/>
                </a:solidFill>
                <a:latin typeface="Arial" pitchFamily="34" charset="0"/>
                <a:ea typeface="Arial" pitchFamily="34" charset="-122"/>
                <a:cs typeface="Arial" pitchFamily="34" charset="-120"/>
              </a:rPr>
              <a:t>Diagnósticos de mayor riesgo → </a:t>
            </a:r>
            <a:r>
              <a:rPr lang="en-US" sz="1100" dirty="0">
                <a:solidFill>
                  <a:srgbClr val="2C2C2A"/>
                </a:solidFill>
                <a:latin typeface="Arial" pitchFamily="34" charset="0"/>
                <a:ea typeface="Arial" pitchFamily="34" charset="-122"/>
                <a:cs typeface="Arial" pitchFamily="34" charset="-120"/>
              </a:rPr>
              <a:t>Dengue hemorrágico (59,5x), dengue clásico (44,4x), fractura de esternón (21,3x), fiebre amarilla (19,7x), COVID-19 (10,9x)</a:t>
            </a:r>
            <a:endParaRPr lang="en-US" sz="1100" dirty="0"/>
          </a:p>
        </p:txBody>
      </p:sp>
      <p:sp>
        <p:nvSpPr>
          <p:cNvPr id="10" name="Text 8"/>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26215C"/>
                </a:solidFill>
                <a:latin typeface="Arial" pitchFamily="34" charset="0"/>
                <a:ea typeface="Arial" pitchFamily="34" charset="-122"/>
                <a:cs typeface="Arial" pitchFamily="34" charset="-120"/>
              </a:rPr>
              <a:t>HALLAZGOS · CATBOOST</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300" b="1" dirty="0">
                <a:solidFill>
                  <a:srgbClr val="2C2C2A"/>
                </a:solidFill>
                <a:latin typeface="Arial" pitchFamily="34" charset="0"/>
                <a:ea typeface="Arial" pitchFamily="34" charset="-122"/>
                <a:cs typeface="Arial" pitchFamily="34" charset="-120"/>
              </a:rPr>
              <a:t>Tres algoritmos distintos, los mismos patrones</a:t>
            </a:r>
            <a:endParaRPr lang="en-US" sz="2300" dirty="0"/>
          </a:p>
        </p:txBody>
      </p:sp>
      <p:graphicFrame>
        <p:nvGraphicFramePr>
          <p:cNvPr id="4" name="Chart 0"/>
          <p:cNvGraphicFramePr/>
          <p:nvPr/>
        </p:nvGraphicFramePr>
        <p:xfrm>
          <a:off x="457200" y="1508760"/>
          <a:ext cx="64008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508760"/>
            <a:ext cx="4572000" cy="3977640"/>
          </a:xfrm>
          <a:prstGeom prst="roundRect">
            <a:avLst>
              <a:gd name="adj" fmla="val 2759"/>
            </a:avLst>
          </a:prstGeom>
          <a:solidFill>
            <a:srgbClr val="F1EFE8"/>
          </a:solidFill>
          <a:ln/>
        </p:spPr>
        <p:txBody>
          <a:bodyPr/>
          <a:lstStyle/>
          <a:p>
            <a:endParaRPr lang="es-CO"/>
          </a:p>
        </p:txBody>
      </p:sp>
      <p:sp>
        <p:nvSpPr>
          <p:cNvPr id="6" name="Text 3"/>
          <p:cNvSpPr/>
          <p:nvPr/>
        </p:nvSpPr>
        <p:spPr>
          <a:xfrm>
            <a:off x="7406640" y="1691640"/>
            <a:ext cx="3977640" cy="3657600"/>
          </a:xfrm>
          <a:prstGeom prst="rect">
            <a:avLst/>
          </a:prstGeom>
          <a:noFill/>
          <a:ln/>
        </p:spPr>
        <p:txBody>
          <a:bodyPr wrap="square" rtlCol="0" anchor="t"/>
          <a:lstStyle/>
          <a:p>
            <a:pPr marL="0" indent="0">
              <a:lnSpc>
                <a:spcPts val="1600"/>
              </a:lnSpc>
              <a:spcAft>
                <a:spcPts val="800"/>
              </a:spcAft>
              <a:buNone/>
            </a:pPr>
            <a:r>
              <a:rPr lang="en-US" sz="1150" b="1" dirty="0">
                <a:solidFill>
                  <a:srgbClr val="2C2C2A"/>
                </a:solidFill>
                <a:latin typeface="Arial" pitchFamily="34" charset="0"/>
                <a:ea typeface="Arial" pitchFamily="34" charset="-122"/>
                <a:cs typeface="Arial" pitchFamily="34" charset="-120"/>
              </a:rPr>
              <a:t>SUCURSAL sube al primer lugar: </a:t>
            </a:r>
            <a:r>
              <a:rPr lang="en-US" sz="1150" dirty="0">
                <a:solidFill>
                  <a:srgbClr val="2C2C2A"/>
                </a:solidFill>
                <a:latin typeface="Arial" pitchFamily="34" charset="0"/>
                <a:ea typeface="Arial" pitchFamily="34" charset="-122"/>
                <a:cs typeface="Arial" pitchFamily="34" charset="-120"/>
              </a:rPr>
              <a:t>CatBoost la maneja de una sola vez, mientras que en la regresión quedaba repartida entre muchas categorías y perdía visibilidad.</a:t>
            </a:r>
            <a:endParaRPr lang="en-US" sz="1150" dirty="0"/>
          </a:p>
          <a:p>
            <a:pPr marL="0" indent="0">
              <a:lnSpc>
                <a:spcPts val="1600"/>
              </a:lnSpc>
              <a:spcAft>
                <a:spcPts val="800"/>
              </a:spcAft>
              <a:buNone/>
            </a:pPr>
            <a:r>
              <a:rPr lang="en-US" sz="1150" dirty="0">
                <a:solidFill>
                  <a:srgbClr val="2C2C2A"/>
                </a:solidFill>
                <a:latin typeface="Arial" pitchFamily="34" charset="0"/>
                <a:ea typeface="Arial" pitchFamily="34" charset="-122"/>
                <a:cs typeface="Arial" pitchFamily="34" charset="-120"/>
              </a:rPr>
              <a:t> </a:t>
            </a:r>
            <a:endParaRPr lang="en-US" sz="1150" dirty="0"/>
          </a:p>
          <a:p>
            <a:pPr marL="0" indent="0">
              <a:lnSpc>
                <a:spcPts val="1600"/>
              </a:lnSpc>
              <a:spcAft>
                <a:spcPts val="800"/>
              </a:spcAft>
              <a:buNone/>
            </a:pPr>
            <a:r>
              <a:rPr lang="en-US" sz="1150" b="1" dirty="0">
                <a:solidFill>
                  <a:srgbClr val="2C2C2A"/>
                </a:solidFill>
                <a:latin typeface="Arial" pitchFamily="34" charset="0"/>
                <a:ea typeface="Arial" pitchFamily="34" charset="-122"/>
                <a:cs typeface="Arial" pitchFamily="34" charset="-120"/>
              </a:rPr>
              <a:t>El resto del orden coincide </a:t>
            </a:r>
            <a:r>
              <a:rPr lang="en-US" sz="1150" dirty="0">
                <a:solidFill>
                  <a:srgbClr val="2C2C2A"/>
                </a:solidFill>
                <a:latin typeface="Arial" pitchFamily="34" charset="0"/>
                <a:ea typeface="Arial" pitchFamily="34" charset="-122"/>
                <a:cs typeface="Arial" pitchFamily="34" charset="-120"/>
              </a:rPr>
              <a:t>con el árbol y la regresión: notificación tardía y diagnóstico siguen entre las señales más fuertes.</a:t>
            </a:r>
            <a:endParaRPr lang="en-US" sz="1150" dirty="0"/>
          </a:p>
        </p:txBody>
      </p:sp>
      <p:sp>
        <p:nvSpPr>
          <p:cNvPr id="7" name="Shape 4"/>
          <p:cNvSpPr/>
          <p:nvPr/>
        </p:nvSpPr>
        <p:spPr>
          <a:xfrm>
            <a:off x="548640" y="5623560"/>
            <a:ext cx="11064240" cy="777240"/>
          </a:xfrm>
          <a:prstGeom prst="roundRect">
            <a:avLst>
              <a:gd name="adj" fmla="val 9412"/>
            </a:avLst>
          </a:prstGeom>
          <a:solidFill>
            <a:srgbClr val="EEEDFE"/>
          </a:solidFill>
          <a:ln/>
        </p:spPr>
        <p:txBody>
          <a:bodyPr/>
          <a:lstStyle/>
          <a:p>
            <a:endParaRPr lang="es-CO"/>
          </a:p>
        </p:txBody>
      </p:sp>
      <p:sp>
        <p:nvSpPr>
          <p:cNvPr id="8" name="Text 5"/>
          <p:cNvSpPr/>
          <p:nvPr/>
        </p:nvSpPr>
        <p:spPr>
          <a:xfrm>
            <a:off x="822960" y="5623560"/>
            <a:ext cx="10424160" cy="777240"/>
          </a:xfrm>
          <a:prstGeom prst="rect">
            <a:avLst/>
          </a:prstGeom>
          <a:noFill/>
          <a:ln/>
        </p:spPr>
        <p:txBody>
          <a:bodyPr wrap="square" rtlCol="0" anchor="ctr"/>
          <a:lstStyle/>
          <a:p>
            <a:pPr marL="0" indent="0">
              <a:lnSpc>
                <a:spcPts val="1500"/>
              </a:lnSpc>
              <a:buNone/>
            </a:pPr>
            <a:r>
              <a:rPr lang="en-US" sz="1150" b="1" dirty="0">
                <a:solidFill>
                  <a:srgbClr val="26215C"/>
                </a:solidFill>
                <a:latin typeface="Arial" pitchFamily="34" charset="0"/>
                <a:ea typeface="Arial" pitchFamily="34" charset="-122"/>
                <a:cs typeface="Arial" pitchFamily="34" charset="-120"/>
              </a:rPr>
              <a:t>Tres modelos, un mismo diagnóstico: </a:t>
            </a:r>
            <a:r>
              <a:rPr lang="en-US" sz="1150" dirty="0">
                <a:solidFill>
                  <a:srgbClr val="2C2C2A"/>
                </a:solidFill>
                <a:latin typeface="Arial" pitchFamily="34" charset="0"/>
                <a:ea typeface="Arial" pitchFamily="34" charset="-122"/>
                <a:cs typeface="Arial" pitchFamily="34" charset="-120"/>
              </a:rPr>
              <a:t>que árbol, regresión y CatBoost coincidan en las mismas variables es la mejor evidencia de que son patrones reales del negocio, no un artefacto de un solo algoritmo.</a:t>
            </a:r>
            <a:endParaRPr lang="en-US" sz="1150" dirty="0"/>
          </a:p>
        </p:txBody>
      </p:sp>
      <p:sp>
        <p:nvSpPr>
          <p:cNvPr id="9" name="Text 6"/>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100" dirty="0">
                <a:solidFill>
                  <a:srgbClr val="0F6E56"/>
                </a:solidFill>
                <a:latin typeface="Arial" pitchFamily="34" charset="0"/>
                <a:ea typeface="Arial" pitchFamily="34" charset="-122"/>
                <a:cs typeface="Arial" pitchFamily="34" charset="-120"/>
              </a:rPr>
              <a:t>RECOMENDACIÓN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500" b="1" dirty="0">
                <a:solidFill>
                  <a:srgbClr val="2C2C2A"/>
                </a:solidFill>
                <a:latin typeface="Arial" pitchFamily="34" charset="0"/>
                <a:ea typeface="Arial" pitchFamily="34" charset="-122"/>
                <a:cs typeface="Arial" pitchFamily="34" charset="-120"/>
              </a:rPr>
              <a:t>Un modelo para explicar, otro para producción</a:t>
            </a:r>
            <a:endParaRPr lang="en-US" sz="2500" dirty="0"/>
          </a:p>
        </p:txBody>
      </p:sp>
      <p:sp>
        <p:nvSpPr>
          <p:cNvPr id="4" name="Shape 2"/>
          <p:cNvSpPr/>
          <p:nvPr/>
        </p:nvSpPr>
        <p:spPr>
          <a:xfrm>
            <a:off x="548640" y="1600200"/>
            <a:ext cx="5394960" cy="1828800"/>
          </a:xfrm>
          <a:prstGeom prst="roundRect">
            <a:avLst>
              <a:gd name="adj" fmla="val 6000"/>
            </a:avLst>
          </a:prstGeom>
          <a:solidFill>
            <a:srgbClr val="EEEDFE"/>
          </a:solidFill>
          <a:ln/>
        </p:spPr>
        <p:txBody>
          <a:bodyPr/>
          <a:lstStyle/>
          <a:p>
            <a:endParaRPr lang="es-CO"/>
          </a:p>
        </p:txBody>
      </p:sp>
      <p:sp>
        <p:nvSpPr>
          <p:cNvPr id="5" name="Text 3"/>
          <p:cNvSpPr/>
          <p:nvPr/>
        </p:nvSpPr>
        <p:spPr>
          <a:xfrm>
            <a:off x="868680" y="1764792"/>
            <a:ext cx="4754880" cy="365760"/>
          </a:xfrm>
          <a:prstGeom prst="rect">
            <a:avLst/>
          </a:prstGeom>
          <a:noFill/>
          <a:ln/>
        </p:spPr>
        <p:txBody>
          <a:bodyPr wrap="square" rtlCol="0" anchor="ctr"/>
          <a:lstStyle/>
          <a:p>
            <a:pPr marL="0" indent="0">
              <a:buNone/>
            </a:pPr>
            <a:r>
              <a:rPr lang="en-US" sz="1350" b="1" dirty="0">
                <a:solidFill>
                  <a:srgbClr val="26215C"/>
                </a:solidFill>
                <a:latin typeface="Arial" pitchFamily="34" charset="0"/>
                <a:ea typeface="Arial" pitchFamily="34" charset="-122"/>
                <a:cs typeface="Arial" pitchFamily="34" charset="-120"/>
              </a:rPr>
              <a:t>Regresión logística → para el negocio</a:t>
            </a:r>
            <a:endParaRPr lang="en-US" sz="1350" dirty="0"/>
          </a:p>
        </p:txBody>
      </p:sp>
      <p:sp>
        <p:nvSpPr>
          <p:cNvPr id="6" name="Text 4"/>
          <p:cNvSpPr/>
          <p:nvPr/>
        </p:nvSpPr>
        <p:spPr>
          <a:xfrm>
            <a:off x="868680" y="2148840"/>
            <a:ext cx="4754880" cy="1234440"/>
          </a:xfrm>
          <a:prstGeom prst="rect">
            <a:avLst/>
          </a:prstGeom>
          <a:noFill/>
          <a:ln/>
        </p:spPr>
        <p:txBody>
          <a:bodyPr wrap="square" rtlCol="0" anchor="ctr"/>
          <a:lstStyle/>
          <a:p>
            <a:pPr marL="0" indent="0">
              <a:lnSpc>
                <a:spcPts val="1500"/>
              </a:lnSpc>
              <a:buNone/>
            </a:pPr>
            <a:r>
              <a:rPr lang="en-US" sz="1100" dirty="0">
                <a:solidFill>
                  <a:srgbClr val="2C2C2A"/>
                </a:solidFill>
                <a:latin typeface="Arial" pitchFamily="34" charset="0"/>
                <a:ea typeface="Arial" pitchFamily="34" charset="-122"/>
                <a:cs typeface="Arial" pitchFamily="34" charset="-120"/>
              </a:rPr>
              <a:t>Sus coeficientes cuantifican exactamente cuántas veces más riesgo aporta cada variable, no solo si sube o baja. Es el insumo más preciso para construir reglas y políticas de suscripción.</a:t>
            </a:r>
            <a:endParaRPr lang="en-US" sz="1100" dirty="0"/>
          </a:p>
        </p:txBody>
      </p:sp>
      <p:sp>
        <p:nvSpPr>
          <p:cNvPr id="7" name="Shape 5"/>
          <p:cNvSpPr/>
          <p:nvPr/>
        </p:nvSpPr>
        <p:spPr>
          <a:xfrm>
            <a:off x="6217920" y="1600200"/>
            <a:ext cx="5394960" cy="1828800"/>
          </a:xfrm>
          <a:prstGeom prst="roundRect">
            <a:avLst>
              <a:gd name="adj" fmla="val 6000"/>
            </a:avLst>
          </a:prstGeom>
          <a:solidFill>
            <a:srgbClr val="E1F5EE"/>
          </a:solidFill>
          <a:ln/>
        </p:spPr>
        <p:txBody>
          <a:bodyPr/>
          <a:lstStyle/>
          <a:p>
            <a:endParaRPr lang="es-CO"/>
          </a:p>
        </p:txBody>
      </p:sp>
      <p:sp>
        <p:nvSpPr>
          <p:cNvPr id="8" name="Text 6"/>
          <p:cNvSpPr/>
          <p:nvPr/>
        </p:nvSpPr>
        <p:spPr>
          <a:xfrm>
            <a:off x="6537960" y="1764792"/>
            <a:ext cx="4754880" cy="365760"/>
          </a:xfrm>
          <a:prstGeom prst="rect">
            <a:avLst/>
          </a:prstGeom>
          <a:noFill/>
          <a:ln/>
        </p:spPr>
        <p:txBody>
          <a:bodyPr wrap="square" rtlCol="0" anchor="ctr"/>
          <a:lstStyle/>
          <a:p>
            <a:pPr marL="0" indent="0">
              <a:buNone/>
            </a:pPr>
            <a:r>
              <a:rPr lang="en-US" sz="1350" b="1" dirty="0">
                <a:solidFill>
                  <a:srgbClr val="0F6E56"/>
                </a:solidFill>
                <a:latin typeface="Arial" pitchFamily="34" charset="0"/>
                <a:ea typeface="Arial" pitchFamily="34" charset="-122"/>
                <a:cs typeface="Arial" pitchFamily="34" charset="-120"/>
              </a:rPr>
              <a:t>CatBoost → para producción</a:t>
            </a:r>
            <a:endParaRPr lang="en-US" sz="1350" dirty="0"/>
          </a:p>
        </p:txBody>
      </p:sp>
      <p:sp>
        <p:nvSpPr>
          <p:cNvPr id="9" name="Text 7"/>
          <p:cNvSpPr/>
          <p:nvPr/>
        </p:nvSpPr>
        <p:spPr>
          <a:xfrm>
            <a:off x="6537960" y="2148840"/>
            <a:ext cx="4754880" cy="1234440"/>
          </a:xfrm>
          <a:prstGeom prst="rect">
            <a:avLst/>
          </a:prstGeom>
          <a:noFill/>
          <a:ln/>
        </p:spPr>
        <p:txBody>
          <a:bodyPr wrap="square" rtlCol="0" anchor="ctr"/>
          <a:lstStyle/>
          <a:p>
            <a:pPr marL="0" indent="0">
              <a:lnSpc>
                <a:spcPts val="1500"/>
              </a:lnSpc>
              <a:buNone/>
            </a:pPr>
            <a:r>
              <a:rPr lang="en-US" sz="1100" dirty="0">
                <a:solidFill>
                  <a:srgbClr val="2C2C2A"/>
                </a:solidFill>
                <a:latin typeface="Arial" pitchFamily="34" charset="0"/>
                <a:ea typeface="Arial" pitchFamily="34" charset="-122"/>
                <a:cs typeface="Arial" pitchFamily="34" charset="-120"/>
              </a:rPr>
              <a:t>Mejor recall, F1 y AUC de los tres modelos. Es el que se conecta al flujo de scoring, donde lo que más importa es el resultado, no la explicación paso a paso.</a:t>
            </a:r>
            <a:endParaRPr lang="en-US" sz="1100" dirty="0"/>
          </a:p>
        </p:txBody>
      </p:sp>
      <p:sp>
        <p:nvSpPr>
          <p:cNvPr id="10" name="Text 8"/>
          <p:cNvSpPr/>
          <p:nvPr/>
        </p:nvSpPr>
        <p:spPr>
          <a:xfrm>
            <a:off x="548640" y="3703320"/>
            <a:ext cx="5486400" cy="320040"/>
          </a:xfrm>
          <a:prstGeom prst="rect">
            <a:avLst/>
          </a:prstGeom>
          <a:noFill/>
          <a:ln/>
        </p:spPr>
        <p:txBody>
          <a:bodyPr wrap="square" rtlCol="0" anchor="ctr"/>
          <a:lstStyle/>
          <a:p>
            <a:pPr marL="0" indent="0">
              <a:buNone/>
            </a:pPr>
            <a:r>
              <a:rPr lang="en-US" sz="1350" b="1" dirty="0">
                <a:solidFill>
                  <a:srgbClr val="2C2C2A"/>
                </a:solidFill>
                <a:latin typeface="Arial" pitchFamily="34" charset="0"/>
                <a:ea typeface="Arial" pitchFamily="34" charset="-122"/>
                <a:cs typeface="Arial" pitchFamily="34" charset="-120"/>
              </a:rPr>
              <a:t>Cómo se pondría en marcha</a:t>
            </a:r>
            <a:endParaRPr lang="en-US" sz="1350" dirty="0"/>
          </a:p>
        </p:txBody>
      </p:sp>
      <p:sp>
        <p:nvSpPr>
          <p:cNvPr id="11" name="Shape 9"/>
          <p:cNvSpPr/>
          <p:nvPr/>
        </p:nvSpPr>
        <p:spPr>
          <a:xfrm>
            <a:off x="548640" y="4114800"/>
            <a:ext cx="1481328" cy="685800"/>
          </a:xfrm>
          <a:prstGeom prst="roundRect">
            <a:avLst>
              <a:gd name="adj" fmla="val 10667"/>
            </a:avLst>
          </a:prstGeom>
          <a:solidFill>
            <a:srgbClr val="B5D4F4"/>
          </a:solidFill>
          <a:ln/>
        </p:spPr>
        <p:txBody>
          <a:bodyPr/>
          <a:lstStyle/>
          <a:p>
            <a:endParaRPr lang="es-CO"/>
          </a:p>
        </p:txBody>
      </p:sp>
      <p:sp>
        <p:nvSpPr>
          <p:cNvPr id="12" name="Text 10"/>
          <p:cNvSpPr/>
          <p:nvPr/>
        </p:nvSpPr>
        <p:spPr>
          <a:xfrm>
            <a:off x="548640"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Datos</a:t>
            </a:r>
            <a:endParaRPr lang="en-US" sz="1050" dirty="0"/>
          </a:p>
        </p:txBody>
      </p:sp>
      <p:sp>
        <p:nvSpPr>
          <p:cNvPr id="13" name="Shape 11"/>
          <p:cNvSpPr/>
          <p:nvPr/>
        </p:nvSpPr>
        <p:spPr>
          <a:xfrm>
            <a:off x="2048256" y="4343400"/>
            <a:ext cx="256032" cy="274320"/>
          </a:xfrm>
          <a:prstGeom prst="rightArrow">
            <a:avLst/>
          </a:prstGeom>
          <a:solidFill>
            <a:srgbClr val="5F5E5A"/>
          </a:solidFill>
          <a:ln/>
        </p:spPr>
        <p:txBody>
          <a:bodyPr/>
          <a:lstStyle/>
          <a:p>
            <a:endParaRPr lang="es-CO"/>
          </a:p>
        </p:txBody>
      </p:sp>
      <p:sp>
        <p:nvSpPr>
          <p:cNvPr id="14" name="Shape 12"/>
          <p:cNvSpPr/>
          <p:nvPr/>
        </p:nvSpPr>
        <p:spPr>
          <a:xfrm>
            <a:off x="2340864" y="4114800"/>
            <a:ext cx="1481328" cy="685800"/>
          </a:xfrm>
          <a:prstGeom prst="roundRect">
            <a:avLst>
              <a:gd name="adj" fmla="val 10667"/>
            </a:avLst>
          </a:prstGeom>
          <a:solidFill>
            <a:srgbClr val="B5D4F4"/>
          </a:solidFill>
          <a:ln/>
        </p:spPr>
        <p:txBody>
          <a:bodyPr/>
          <a:lstStyle/>
          <a:p>
            <a:endParaRPr lang="es-CO"/>
          </a:p>
        </p:txBody>
      </p:sp>
      <p:sp>
        <p:nvSpPr>
          <p:cNvPr id="15" name="Text 13"/>
          <p:cNvSpPr/>
          <p:nvPr/>
        </p:nvSpPr>
        <p:spPr>
          <a:xfrm>
            <a:off x="2340864"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Preparación</a:t>
            </a:r>
            <a:endParaRPr lang="en-US" sz="1050" dirty="0"/>
          </a:p>
        </p:txBody>
      </p:sp>
      <p:sp>
        <p:nvSpPr>
          <p:cNvPr id="16" name="Shape 14"/>
          <p:cNvSpPr/>
          <p:nvPr/>
        </p:nvSpPr>
        <p:spPr>
          <a:xfrm>
            <a:off x="3840480" y="4343400"/>
            <a:ext cx="256032" cy="274320"/>
          </a:xfrm>
          <a:prstGeom prst="rightArrow">
            <a:avLst/>
          </a:prstGeom>
          <a:solidFill>
            <a:srgbClr val="5F5E5A"/>
          </a:solidFill>
          <a:ln/>
        </p:spPr>
        <p:txBody>
          <a:bodyPr/>
          <a:lstStyle/>
          <a:p>
            <a:endParaRPr lang="es-CO"/>
          </a:p>
        </p:txBody>
      </p:sp>
      <p:sp>
        <p:nvSpPr>
          <p:cNvPr id="17" name="Shape 15"/>
          <p:cNvSpPr/>
          <p:nvPr/>
        </p:nvSpPr>
        <p:spPr>
          <a:xfrm>
            <a:off x="4133088" y="4114800"/>
            <a:ext cx="1481328" cy="685800"/>
          </a:xfrm>
          <a:prstGeom prst="roundRect">
            <a:avLst>
              <a:gd name="adj" fmla="val 10667"/>
            </a:avLst>
          </a:prstGeom>
          <a:solidFill>
            <a:srgbClr val="CECBF6"/>
          </a:solidFill>
          <a:ln/>
        </p:spPr>
        <p:txBody>
          <a:bodyPr/>
          <a:lstStyle/>
          <a:p>
            <a:endParaRPr lang="es-CO"/>
          </a:p>
        </p:txBody>
      </p:sp>
      <p:sp>
        <p:nvSpPr>
          <p:cNvPr id="18" name="Text 16"/>
          <p:cNvSpPr/>
          <p:nvPr/>
        </p:nvSpPr>
        <p:spPr>
          <a:xfrm>
            <a:off x="4133088"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Modelado</a:t>
            </a:r>
            <a:endParaRPr lang="en-US" sz="1050" dirty="0"/>
          </a:p>
        </p:txBody>
      </p:sp>
      <p:sp>
        <p:nvSpPr>
          <p:cNvPr id="19" name="Shape 17"/>
          <p:cNvSpPr/>
          <p:nvPr/>
        </p:nvSpPr>
        <p:spPr>
          <a:xfrm>
            <a:off x="5632704" y="4343400"/>
            <a:ext cx="256032" cy="274320"/>
          </a:xfrm>
          <a:prstGeom prst="rightArrow">
            <a:avLst/>
          </a:prstGeom>
          <a:solidFill>
            <a:srgbClr val="5F5E5A"/>
          </a:solidFill>
          <a:ln/>
        </p:spPr>
        <p:txBody>
          <a:bodyPr/>
          <a:lstStyle/>
          <a:p>
            <a:endParaRPr lang="es-CO"/>
          </a:p>
        </p:txBody>
      </p:sp>
      <p:sp>
        <p:nvSpPr>
          <p:cNvPr id="20" name="Shape 18"/>
          <p:cNvSpPr/>
          <p:nvPr/>
        </p:nvSpPr>
        <p:spPr>
          <a:xfrm>
            <a:off x="5925312" y="4114800"/>
            <a:ext cx="1481328" cy="685800"/>
          </a:xfrm>
          <a:prstGeom prst="roundRect">
            <a:avLst>
              <a:gd name="adj" fmla="val 10667"/>
            </a:avLst>
          </a:prstGeom>
          <a:solidFill>
            <a:srgbClr val="CECBF6"/>
          </a:solidFill>
          <a:ln/>
        </p:spPr>
        <p:txBody>
          <a:bodyPr/>
          <a:lstStyle/>
          <a:p>
            <a:endParaRPr lang="es-CO"/>
          </a:p>
        </p:txBody>
      </p:sp>
      <p:sp>
        <p:nvSpPr>
          <p:cNvPr id="21" name="Text 19"/>
          <p:cNvSpPr/>
          <p:nvPr/>
        </p:nvSpPr>
        <p:spPr>
          <a:xfrm>
            <a:off x="5925312"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Scoring</a:t>
            </a:r>
            <a:endParaRPr lang="en-US" sz="1050" dirty="0"/>
          </a:p>
        </p:txBody>
      </p:sp>
      <p:sp>
        <p:nvSpPr>
          <p:cNvPr id="22" name="Shape 20"/>
          <p:cNvSpPr/>
          <p:nvPr/>
        </p:nvSpPr>
        <p:spPr>
          <a:xfrm>
            <a:off x="7424928" y="4343400"/>
            <a:ext cx="256032" cy="274320"/>
          </a:xfrm>
          <a:prstGeom prst="rightArrow">
            <a:avLst/>
          </a:prstGeom>
          <a:solidFill>
            <a:srgbClr val="5F5E5A"/>
          </a:solidFill>
          <a:ln/>
        </p:spPr>
        <p:txBody>
          <a:bodyPr/>
          <a:lstStyle/>
          <a:p>
            <a:endParaRPr lang="es-CO"/>
          </a:p>
        </p:txBody>
      </p:sp>
      <p:sp>
        <p:nvSpPr>
          <p:cNvPr id="23" name="Shape 21"/>
          <p:cNvSpPr/>
          <p:nvPr/>
        </p:nvSpPr>
        <p:spPr>
          <a:xfrm>
            <a:off x="7717536" y="4114800"/>
            <a:ext cx="1481328" cy="685800"/>
          </a:xfrm>
          <a:prstGeom prst="roundRect">
            <a:avLst>
              <a:gd name="adj" fmla="val 10667"/>
            </a:avLst>
          </a:prstGeom>
          <a:solidFill>
            <a:srgbClr val="9FE1CB"/>
          </a:solidFill>
          <a:ln/>
        </p:spPr>
        <p:txBody>
          <a:bodyPr/>
          <a:lstStyle/>
          <a:p>
            <a:endParaRPr lang="es-CO"/>
          </a:p>
        </p:txBody>
      </p:sp>
      <p:sp>
        <p:nvSpPr>
          <p:cNvPr id="24" name="Text 22"/>
          <p:cNvSpPr/>
          <p:nvPr/>
        </p:nvSpPr>
        <p:spPr>
          <a:xfrm>
            <a:off x="7717536"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Consumo</a:t>
            </a:r>
            <a:endParaRPr lang="en-US" sz="1050" dirty="0"/>
          </a:p>
        </p:txBody>
      </p:sp>
      <p:sp>
        <p:nvSpPr>
          <p:cNvPr id="25" name="Shape 23"/>
          <p:cNvSpPr/>
          <p:nvPr/>
        </p:nvSpPr>
        <p:spPr>
          <a:xfrm>
            <a:off x="9217152" y="4343400"/>
            <a:ext cx="256032" cy="274320"/>
          </a:xfrm>
          <a:prstGeom prst="rightArrow">
            <a:avLst/>
          </a:prstGeom>
          <a:solidFill>
            <a:srgbClr val="5F5E5A"/>
          </a:solidFill>
          <a:ln/>
        </p:spPr>
        <p:txBody>
          <a:bodyPr/>
          <a:lstStyle/>
          <a:p>
            <a:endParaRPr lang="es-CO"/>
          </a:p>
        </p:txBody>
      </p:sp>
      <p:sp>
        <p:nvSpPr>
          <p:cNvPr id="26" name="Shape 24"/>
          <p:cNvSpPr/>
          <p:nvPr/>
        </p:nvSpPr>
        <p:spPr>
          <a:xfrm>
            <a:off x="9509760" y="4114800"/>
            <a:ext cx="1481328" cy="685800"/>
          </a:xfrm>
          <a:prstGeom prst="roundRect">
            <a:avLst>
              <a:gd name="adj" fmla="val 10667"/>
            </a:avLst>
          </a:prstGeom>
          <a:solidFill>
            <a:srgbClr val="9FE1CB"/>
          </a:solidFill>
          <a:ln/>
        </p:spPr>
        <p:txBody>
          <a:bodyPr/>
          <a:lstStyle/>
          <a:p>
            <a:endParaRPr lang="es-CO"/>
          </a:p>
        </p:txBody>
      </p:sp>
      <p:sp>
        <p:nvSpPr>
          <p:cNvPr id="27" name="Text 25"/>
          <p:cNvSpPr/>
          <p:nvPr/>
        </p:nvSpPr>
        <p:spPr>
          <a:xfrm>
            <a:off x="9509760" y="4114800"/>
            <a:ext cx="1481328" cy="685800"/>
          </a:xfrm>
          <a:prstGeom prst="rect">
            <a:avLst/>
          </a:prstGeom>
          <a:noFill/>
          <a:ln/>
        </p:spPr>
        <p:txBody>
          <a:bodyPr wrap="square" lIns="0" tIns="0" rIns="0" bIns="0" rtlCol="0" anchor="ctr"/>
          <a:lstStyle/>
          <a:p>
            <a:pPr marL="0" indent="0" algn="ctr">
              <a:buNone/>
            </a:pPr>
            <a:r>
              <a:rPr lang="en-US" sz="1050" b="1" dirty="0">
                <a:solidFill>
                  <a:srgbClr val="2C2C2A"/>
                </a:solidFill>
                <a:latin typeface="Arial" pitchFamily="34" charset="0"/>
                <a:ea typeface="Arial" pitchFamily="34" charset="-122"/>
                <a:cs typeface="Arial" pitchFamily="34" charset="-120"/>
              </a:rPr>
              <a:t>Monitoreo</a:t>
            </a:r>
            <a:endParaRPr lang="en-US" sz="1050" dirty="0"/>
          </a:p>
        </p:txBody>
      </p:sp>
      <p:sp>
        <p:nvSpPr>
          <p:cNvPr id="28" name="Text 26"/>
          <p:cNvSpPr/>
          <p:nvPr/>
        </p:nvSpPr>
        <p:spPr>
          <a:xfrm>
            <a:off x="548640" y="5074920"/>
            <a:ext cx="10972800" cy="548640"/>
          </a:xfrm>
          <a:prstGeom prst="rect">
            <a:avLst/>
          </a:prstGeom>
          <a:noFill/>
          <a:ln/>
        </p:spPr>
        <p:txBody>
          <a:bodyPr wrap="square" rtlCol="0" anchor="ctr"/>
          <a:lstStyle/>
          <a:p>
            <a:pPr marL="0" indent="0">
              <a:lnSpc>
                <a:spcPts val="1500"/>
              </a:lnSpc>
              <a:buNone/>
            </a:pPr>
            <a:r>
              <a:rPr lang="en-US" sz="1150" i="1" dirty="0">
                <a:solidFill>
                  <a:srgbClr val="5F5E5A"/>
                </a:solidFill>
                <a:latin typeface="Arial" pitchFamily="34" charset="0"/>
                <a:ea typeface="Arial" pitchFamily="34" charset="-122"/>
                <a:cs typeface="Arial" pitchFamily="34" charset="-120"/>
              </a:rPr>
              <a:t>El score se calcula al abrir el caso, con alertas automáticas para auditoría cuando supera un umbral, y se reentrena cada trimestre o cada 1.000-2.000 casos nuevos resueltos.</a:t>
            </a:r>
            <a:endParaRPr lang="en-US" sz="1150" dirty="0"/>
          </a:p>
        </p:txBody>
      </p:sp>
      <p:sp>
        <p:nvSpPr>
          <p:cNvPr id="29" name="Shape 27"/>
          <p:cNvSpPr/>
          <p:nvPr/>
        </p:nvSpPr>
        <p:spPr>
          <a:xfrm>
            <a:off x="548640" y="5806440"/>
            <a:ext cx="11064240" cy="685800"/>
          </a:xfrm>
          <a:prstGeom prst="roundRect">
            <a:avLst>
              <a:gd name="adj" fmla="val 10667"/>
            </a:avLst>
          </a:prstGeom>
          <a:solidFill>
            <a:srgbClr val="F1EFE8"/>
          </a:solidFill>
          <a:ln/>
        </p:spPr>
        <p:txBody>
          <a:bodyPr/>
          <a:lstStyle/>
          <a:p>
            <a:endParaRPr lang="es-CO"/>
          </a:p>
        </p:txBody>
      </p:sp>
      <p:sp>
        <p:nvSpPr>
          <p:cNvPr id="30" name="Text 28"/>
          <p:cNvSpPr/>
          <p:nvPr/>
        </p:nvSpPr>
        <p:spPr>
          <a:xfrm>
            <a:off x="822960" y="5806440"/>
            <a:ext cx="10424160" cy="685800"/>
          </a:xfrm>
          <a:prstGeom prst="rect">
            <a:avLst/>
          </a:prstGeom>
          <a:noFill/>
          <a:ln/>
        </p:spPr>
        <p:txBody>
          <a:bodyPr wrap="square" rtlCol="0" anchor="ctr"/>
          <a:lstStyle/>
          <a:p>
            <a:pPr marL="0" indent="0">
              <a:lnSpc>
                <a:spcPts val="1400"/>
              </a:lnSpc>
              <a:buNone/>
            </a:pPr>
            <a:r>
              <a:rPr lang="en-US" sz="1050" b="1" dirty="0">
                <a:solidFill>
                  <a:srgbClr val="2C2C2A"/>
                </a:solidFill>
                <a:latin typeface="Arial" pitchFamily="34" charset="0"/>
                <a:ea typeface="Arial" pitchFamily="34" charset="-122"/>
                <a:cs typeface="Arial" pitchFamily="34" charset="-120"/>
              </a:rPr>
              <a:t>Consumo por equipo: </a:t>
            </a:r>
            <a:r>
              <a:rPr lang="en-US" sz="1050" dirty="0">
                <a:solidFill>
                  <a:srgbClr val="2C2C2A"/>
                </a:solidFill>
                <a:latin typeface="Arial" pitchFamily="34" charset="0"/>
                <a:ea typeface="Arial" pitchFamily="34" charset="-122"/>
                <a:cs typeface="Arial" pitchFamily="34" charset="-120"/>
              </a:rPr>
              <a:t>siniestros (alerta en el caso) · auditoría (listado priorizado) · gerencia (reportes agregados) · tablero de perfiles de riesgo para controles preventivos.</a:t>
            </a:r>
            <a:endParaRPr lang="en-US" sz="1050" dirty="0"/>
          </a:p>
        </p:txBody>
      </p:sp>
      <p:sp>
        <p:nvSpPr>
          <p:cNvPr id="31" name="Text 29"/>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215C"/>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Conclusión: valor para el negocio</a:t>
            </a:r>
            <a:endParaRPr lang="en-US" sz="2700" dirty="0"/>
          </a:p>
        </p:txBody>
      </p:sp>
      <p:sp>
        <p:nvSpPr>
          <p:cNvPr id="3" name="Shape 1"/>
          <p:cNvSpPr/>
          <p:nvPr/>
        </p:nvSpPr>
        <p:spPr>
          <a:xfrm>
            <a:off x="548640" y="1508760"/>
            <a:ext cx="5440680" cy="4480560"/>
          </a:xfrm>
          <a:prstGeom prst="roundRect">
            <a:avLst>
              <a:gd name="adj" fmla="val 2449"/>
            </a:avLst>
          </a:prstGeom>
          <a:solidFill>
            <a:srgbClr val="342D6E"/>
          </a:solidFill>
          <a:ln/>
        </p:spPr>
        <p:txBody>
          <a:bodyPr/>
          <a:lstStyle/>
          <a:p>
            <a:endParaRPr lang="es-CO"/>
          </a:p>
        </p:txBody>
      </p:sp>
      <p:sp>
        <p:nvSpPr>
          <p:cNvPr id="4" name="Text 2"/>
          <p:cNvSpPr/>
          <p:nvPr/>
        </p:nvSpPr>
        <p:spPr>
          <a:xfrm>
            <a:off x="868680" y="1691640"/>
            <a:ext cx="4846320" cy="365760"/>
          </a:xfrm>
          <a:prstGeom prst="rect">
            <a:avLst/>
          </a:prstGeom>
          <a:noFill/>
          <a:ln/>
        </p:spPr>
        <p:txBody>
          <a:bodyPr wrap="square" rtlCol="0" anchor="ctr"/>
          <a:lstStyle/>
          <a:p>
            <a:pPr marL="0" indent="0">
              <a:buNone/>
            </a:pPr>
            <a:r>
              <a:rPr lang="en-US" sz="1500" b="1" dirty="0">
                <a:solidFill>
                  <a:srgbClr val="9FE1CB"/>
                </a:solidFill>
                <a:latin typeface="Arial" pitchFamily="34" charset="0"/>
                <a:ea typeface="Arial" pitchFamily="34" charset="-122"/>
                <a:cs typeface="Arial" pitchFamily="34" charset="-120"/>
              </a:rPr>
              <a:t>Lo que entregamos</a:t>
            </a:r>
            <a:endParaRPr lang="en-US" sz="1500" dirty="0"/>
          </a:p>
        </p:txBody>
      </p:sp>
      <p:sp>
        <p:nvSpPr>
          <p:cNvPr id="5" name="Text 3"/>
          <p:cNvSpPr/>
          <p:nvPr/>
        </p:nvSpPr>
        <p:spPr>
          <a:xfrm>
            <a:off x="868680" y="2148840"/>
            <a:ext cx="4846320" cy="3566160"/>
          </a:xfrm>
          <a:prstGeom prst="rect">
            <a:avLst/>
          </a:prstGeom>
          <a:noFill/>
          <a:ln/>
        </p:spPr>
        <p:txBody>
          <a:bodyPr wrap="square" rtlCol="0" anchor="ctr"/>
          <a:lstStyle/>
          <a:p>
            <a:pPr marL="0" indent="0">
              <a:lnSpc>
                <a:spcPts val="2100"/>
              </a:lnSpc>
              <a:spcAft>
                <a:spcPts val="8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Modelo con 90% de recall y 88% de AUC en la detección de fraude</a:t>
            </a:r>
            <a:endParaRPr lang="en-US" sz="1250" dirty="0"/>
          </a:p>
          <a:p>
            <a:pPr marL="0" indent="0">
              <a:lnSpc>
                <a:spcPts val="2100"/>
              </a:lnSpc>
              <a:spcAft>
                <a:spcPts val="8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Dos perfiles de riesgo claros y accionables, listos para usar hoy</a:t>
            </a:r>
            <a:endParaRPr lang="en-US" sz="1250" dirty="0"/>
          </a:p>
          <a:p>
            <a:pPr marL="0" indent="0">
              <a:lnSpc>
                <a:spcPts val="2100"/>
              </a:lnSpc>
              <a:spcAft>
                <a:spcPts val="8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Los mismos patrones de fraude confirmados por tres modelos distintos</a:t>
            </a:r>
            <a:endParaRPr lang="en-US" sz="1250" dirty="0"/>
          </a:p>
          <a:p>
            <a:pPr marL="0" indent="0">
              <a:lnSpc>
                <a:spcPts val="2100"/>
              </a:lnSpc>
              <a:spcAft>
                <a:spcPts val="800"/>
              </a:spcAft>
              <a:buNone/>
            </a:pPr>
            <a:r>
              <a:rPr lang="en-US" sz="1250" b="1" dirty="0">
                <a:solidFill>
                  <a:srgbClr val="0F6E56"/>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Un flujo de producción y monitoreo definido de punta a punta</a:t>
            </a:r>
            <a:endParaRPr lang="en-US" sz="1250" dirty="0"/>
          </a:p>
        </p:txBody>
      </p:sp>
      <p:sp>
        <p:nvSpPr>
          <p:cNvPr id="6" name="Shape 4"/>
          <p:cNvSpPr/>
          <p:nvPr/>
        </p:nvSpPr>
        <p:spPr>
          <a:xfrm>
            <a:off x="6217920" y="1508760"/>
            <a:ext cx="5440680" cy="4480560"/>
          </a:xfrm>
          <a:prstGeom prst="roundRect">
            <a:avLst>
              <a:gd name="adj" fmla="val 2449"/>
            </a:avLst>
          </a:prstGeom>
          <a:solidFill>
            <a:srgbClr val="342D6E"/>
          </a:solidFill>
          <a:ln/>
        </p:spPr>
        <p:txBody>
          <a:bodyPr/>
          <a:lstStyle/>
          <a:p>
            <a:endParaRPr lang="es-CO"/>
          </a:p>
        </p:txBody>
      </p:sp>
      <p:sp>
        <p:nvSpPr>
          <p:cNvPr id="7" name="Text 5"/>
          <p:cNvSpPr/>
          <p:nvPr/>
        </p:nvSpPr>
        <p:spPr>
          <a:xfrm>
            <a:off x="6537960" y="1691640"/>
            <a:ext cx="4846320" cy="365760"/>
          </a:xfrm>
          <a:prstGeom prst="rect">
            <a:avLst/>
          </a:prstGeom>
          <a:noFill/>
          <a:ln/>
        </p:spPr>
        <p:txBody>
          <a:bodyPr wrap="square" rtlCol="0" anchor="ctr"/>
          <a:lstStyle/>
          <a:p>
            <a:pPr marL="0" indent="0">
              <a:buNone/>
            </a:pPr>
            <a:r>
              <a:rPr lang="en-US" sz="1500" b="1" dirty="0">
                <a:solidFill>
                  <a:srgbClr val="F0997B"/>
                </a:solidFill>
                <a:latin typeface="Arial" pitchFamily="34" charset="0"/>
                <a:ea typeface="Arial" pitchFamily="34" charset="-122"/>
                <a:cs typeface="Arial" pitchFamily="34" charset="-120"/>
              </a:rPr>
              <a:t>Decisiones que le pedimos al negocio</a:t>
            </a:r>
            <a:endParaRPr lang="en-US" sz="1500" dirty="0"/>
          </a:p>
        </p:txBody>
      </p:sp>
      <p:sp>
        <p:nvSpPr>
          <p:cNvPr id="8" name="Text 6"/>
          <p:cNvSpPr/>
          <p:nvPr/>
        </p:nvSpPr>
        <p:spPr>
          <a:xfrm>
            <a:off x="6537960" y="2148840"/>
            <a:ext cx="4846320" cy="3566160"/>
          </a:xfrm>
          <a:prstGeom prst="rect">
            <a:avLst/>
          </a:prstGeom>
          <a:noFill/>
          <a:ln/>
        </p:spPr>
        <p:txBody>
          <a:bodyPr wrap="square" rtlCol="0" anchor="ctr"/>
          <a:lstStyle/>
          <a:p>
            <a:pPr marL="0" indent="0">
              <a:lnSpc>
                <a:spcPts val="2100"/>
              </a:lnSpc>
              <a:spcAft>
                <a:spcPts val="8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Definir el umbral de score que dispara una alerta de auditoría</a:t>
            </a:r>
            <a:endParaRPr lang="en-US" sz="1250" dirty="0"/>
          </a:p>
          <a:p>
            <a:pPr marL="0" indent="0">
              <a:lnSpc>
                <a:spcPts val="2100"/>
              </a:lnSpc>
              <a:spcAft>
                <a:spcPts val="8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Priorizar los dos perfiles de riesgo en los controles de suscripción</a:t>
            </a:r>
            <a:endParaRPr lang="en-US" sz="1250" dirty="0"/>
          </a:p>
          <a:p>
            <a:pPr marL="0" indent="0">
              <a:lnSpc>
                <a:spcPts val="2100"/>
              </a:lnSpc>
              <a:spcAft>
                <a:spcPts val="800"/>
              </a:spcAft>
              <a:buNone/>
            </a:pPr>
            <a:r>
              <a:rPr lang="en-US" sz="1250" b="1" dirty="0">
                <a:solidFill>
                  <a:srgbClr val="D85A30"/>
                </a:solidFill>
                <a:latin typeface="Arial" pitchFamily="34" charset="0"/>
                <a:ea typeface="Arial" pitchFamily="34" charset="-122"/>
                <a:cs typeface="Arial" pitchFamily="34" charset="-120"/>
              </a:rPr>
              <a:t>•  </a:t>
            </a:r>
            <a:r>
              <a:rPr lang="en-US" sz="1250" dirty="0">
                <a:solidFill>
                  <a:srgbClr val="E6E4F5"/>
                </a:solidFill>
                <a:latin typeface="Arial" pitchFamily="34" charset="0"/>
                <a:ea typeface="Arial" pitchFamily="34" charset="-122"/>
                <a:cs typeface="Arial" pitchFamily="34" charset="-120"/>
              </a:rPr>
              <a:t>Validar el costo relativo de investigar de más vs. dejar pasar un fraude</a:t>
            </a:r>
            <a:endParaRPr lang="en-US" sz="1250" dirty="0"/>
          </a:p>
        </p:txBody>
      </p:sp>
      <p:sp>
        <p:nvSpPr>
          <p:cNvPr id="9" name="Text 7"/>
          <p:cNvSpPr/>
          <p:nvPr/>
        </p:nvSpPr>
        <p:spPr>
          <a:xfrm>
            <a:off x="11430000" y="6537960"/>
            <a:ext cx="640080" cy="274320"/>
          </a:xfrm>
          <a:prstGeom prst="rect">
            <a:avLst/>
          </a:prstGeom>
          <a:noFill/>
          <a:ln/>
        </p:spPr>
        <p:txBody>
          <a:bodyPr wrap="square" rtlCol="0" anchor="ctr"/>
          <a:lstStyle/>
          <a:p>
            <a:pPr marL="0" indent="0" algn="r">
              <a:buNone/>
            </a:pPr>
            <a:r>
              <a:rPr lang="en-US" sz="900" dirty="0">
                <a:solidFill>
                  <a:srgbClr val="5F5E5A"/>
                </a:solidFill>
                <a:latin typeface="Arial" pitchFamily="34" charset="0"/>
                <a:ea typeface="Arial" pitchFamily="34" charset="-122"/>
                <a:cs typeface="Arial" pitchFamily="34" charset="-120"/>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1467</Words>
  <Application>Microsoft Office PowerPoint</Application>
  <PresentationFormat>Panorámica</PresentationFormat>
  <Paragraphs>122</Paragraphs>
  <Slides>8</Slides>
  <Notes>8</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8</vt:i4>
      </vt:variant>
    </vt:vector>
  </HeadingPairs>
  <TitlesOfParts>
    <vt:vector size="10"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Sebastian Castaño Zuluaga</cp:lastModifiedBy>
  <cp:revision>3</cp:revision>
  <dcterms:created xsi:type="dcterms:W3CDTF">2026-08-24T07:14:49Z</dcterms:created>
  <dcterms:modified xsi:type="dcterms:W3CDTF">2026-08-24T09:24:12Z</dcterms:modified>
</cp:coreProperties>
</file>